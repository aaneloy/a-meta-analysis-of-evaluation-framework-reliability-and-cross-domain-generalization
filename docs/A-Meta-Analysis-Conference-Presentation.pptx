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1365BA8-8902-4CBE-BFF6-6F9F46B127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594958-C78E-49E0-8F41-E18FB77273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383586-978E-4A2A-AB33-BDEF27F74A0F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92EBA8-6D75-471C-BF93-9496B160064E}"/>
              </a:ext>
            </a:extLst>
          </p:cNvPr>
          <p:cNvSpPr>
            <a:spLocks noGrp="1"/>
          </p:cNvSpPr>
          <p:nvPr/>
        </p:nvSpPr>
        <p:spPr>
          <a:xfrm>
            <a:off x="571500" y="495300"/>
            <a:ext cx="2476500" cy="381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1EB81F-919F-4AEF-90F8-5FB1F80135AB}"/>
              </a:ext>
            </a:extLst>
          </p:cNvPr>
          <p:cNvSpPr>
            <a:spLocks noGrp="1"/>
          </p:cNvSpPr>
          <p:nvPr/>
        </p:nvSpPr>
        <p:spPr>
          <a:xfrm>
            <a:off x="571500" y="7048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CANADIAN AI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566723-D7F0-449D-A82E-F0C1414519E4}"/>
              </a:ext>
            </a:extLst>
          </p:cNvPr>
          <p:cNvSpPr>
            <a:spLocks noGrp="1"/>
          </p:cNvSpPr>
          <p:nvPr/>
        </p:nvSpPr>
        <p:spPr>
          <a:xfrm>
            <a:off x="571500" y="952500"/>
            <a:ext cx="590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39th Canadian Conference on Artificial Intelligence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81FB31-BAF4-47F7-8EA9-C996A4713861}"/>
              </a:ext>
            </a:extLst>
          </p:cNvPr>
          <p:cNvSpPr>
            <a:spLocks noGrp="1"/>
          </p:cNvSpPr>
          <p:nvPr/>
        </p:nvSpPr>
        <p:spPr>
          <a:xfrm>
            <a:off x="571500" y="1295400"/>
            <a:ext cx="1123950" cy="2857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17708C-EB1F-46E0-B983-A62D9A131D1E}"/>
              </a:ext>
            </a:extLst>
          </p:cNvPr>
          <p:cNvSpPr>
            <a:spLocks noGrp="1"/>
          </p:cNvSpPr>
          <p:nvPr/>
        </p:nvSpPr>
        <p:spPr>
          <a:xfrm>
            <a:off x="704850" y="137160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PAPER 210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ADEFB7-C7B4-419E-93EA-6D3AF955F2BD}"/>
              </a:ext>
            </a:extLst>
          </p:cNvPr>
          <p:cNvSpPr>
            <a:spLocks noGrp="1"/>
          </p:cNvSpPr>
          <p:nvPr/>
        </p:nvSpPr>
        <p:spPr>
          <a:xfrm>
            <a:off x="571500" y="1581150"/>
            <a:ext cx="8858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A Meta-Analysis of Evaluation Framework</a:t>
            </a:r>
          </a:p>
          <a:p>
            <a:pPr algn="l">
              <a:defRPr sz="31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Reliability and Cross-Domain Generalization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20250" y="835754"/>
            <a:ext cx="1562100" cy="5382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500" y="3105150"/>
            <a:ext cx="1047750" cy="10477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15ECE14-D81C-4773-B4AA-3D20DDF8E40A}"/>
              </a:ext>
            </a:extLst>
          </p:cNvPr>
          <p:cNvSpPr>
            <a:spLocks noGrp="1"/>
          </p:cNvSpPr>
          <p:nvPr/>
        </p:nvSpPr>
        <p:spPr>
          <a:xfrm>
            <a:off x="1790700" y="3105150"/>
            <a:ext cx="3143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Asif Ahmed Neloy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AB5EDD-DFC2-4C55-A096-639C692E4D57}"/>
              </a:ext>
            </a:extLst>
          </p:cNvPr>
          <p:cNvSpPr>
            <a:spLocks noGrp="1"/>
          </p:cNvSpPr>
          <p:nvPr/>
        </p:nvSpPr>
        <p:spPr>
          <a:xfrm>
            <a:off x="1790700" y="3409950"/>
            <a:ext cx="3429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Senior AI Engineer, Delta Controls</a:t>
            </a:r>
          </a:p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Adjunct Professor, Faculty of Land and Food Systems</a:t>
            </a:r>
          </a:p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University of British Columbia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1B91A-5F00-478F-B2F9-6B4ADA52A929}"/>
              </a:ext>
            </a:extLst>
          </p:cNvPr>
          <p:cNvSpPr>
            <a:spLocks noGrp="1"/>
          </p:cNvSpPr>
          <p:nvPr/>
        </p:nvSpPr>
        <p:spPr>
          <a:xfrm>
            <a:off x="1790700" y="42291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56B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asif.neloy@ubc.ca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429250" y="3105150"/>
            <a:ext cx="1047750" cy="10477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A30F057-2D79-4DDD-A9B3-B71DBF266F31}"/>
              </a:ext>
            </a:extLst>
          </p:cNvPr>
          <p:cNvSpPr>
            <a:spLocks noGrp="1"/>
          </p:cNvSpPr>
          <p:nvPr/>
        </p:nvSpPr>
        <p:spPr>
          <a:xfrm>
            <a:off x="6648450" y="3105150"/>
            <a:ext cx="3143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MD Nazmul Islam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55BDC0-7FF7-4237-993A-2254E37D5D78}"/>
              </a:ext>
            </a:extLst>
          </p:cNvPr>
          <p:cNvSpPr>
            <a:spLocks noGrp="1"/>
          </p:cNvSpPr>
          <p:nvPr/>
        </p:nvSpPr>
        <p:spPr>
          <a:xfrm>
            <a:off x="6648450" y="3409950"/>
            <a:ext cx="36766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Instructor, Computer Systems Technology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University Studies, Keyano College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895600" y="4778648"/>
            <a:ext cx="2038350" cy="42200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727530" y="4686300"/>
            <a:ext cx="1409700" cy="43538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8ECC2AB-30A6-4ED3-9619-8B9F823DEBBE}"/>
              </a:ext>
            </a:extLst>
          </p:cNvPr>
          <p:cNvSpPr>
            <a:spLocks noGrp="1"/>
          </p:cNvSpPr>
          <p:nvPr/>
        </p:nvSpPr>
        <p:spPr>
          <a:xfrm>
            <a:off x="2667000" y="586740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View code, paper, and interactive slides on GitHub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5122E1-F3E8-4509-AD1C-4D385E4CC02B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37701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69DD230F-9A54-4B5F-B112-9D8F18621F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6E4416-FB5A-42CE-A8A1-0A21868ADB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0F8B01-199E-4224-8C5E-03F5D2DB16F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DC022B-203E-4DBC-ABD3-A49DA39AFE5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670EE0-3B8C-4D65-9CD6-EED9F57DA894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A faithfulness score matters only when the evaluator is reliable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5B5C35-F4D1-4E5C-84C6-2FCA6D220AD5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B3FC1C-B120-439B-A70D-2700666414A1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7119DD-B8E1-4853-8445-9E9CC632BC7D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2857500" cy="1543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ABE72-9F26-4786-ADCC-6C17D0180105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2857500" cy="762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47E14C-E974-48E8-B43B-AD881FCFA470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Retrieved context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CE4953-19A8-4EC2-AE8F-5438E9B0E16E}"/>
              </a:ext>
            </a:extLst>
          </p:cNvPr>
          <p:cNvSpPr>
            <a:spLocks noGrp="1"/>
          </p:cNvSpPr>
          <p:nvPr/>
        </p:nvSpPr>
        <p:spPr>
          <a:xfrm>
            <a:off x="1066800" y="2724150"/>
            <a:ext cx="2343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Evidence selected for the question.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BFC2F5-E42A-467F-B792-CFB416B7B581}"/>
              </a:ext>
            </a:extLst>
          </p:cNvPr>
          <p:cNvSpPr>
            <a:spLocks noGrp="1"/>
          </p:cNvSpPr>
          <p:nvPr/>
        </p:nvSpPr>
        <p:spPr>
          <a:xfrm>
            <a:off x="3924300" y="2476500"/>
            <a:ext cx="323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94D3AB-1B53-4402-9ED3-9048DB4C93BE}"/>
              </a:ext>
            </a:extLst>
          </p:cNvPr>
          <p:cNvSpPr>
            <a:spLocks noGrp="1"/>
          </p:cNvSpPr>
          <p:nvPr/>
        </p:nvSpPr>
        <p:spPr>
          <a:xfrm>
            <a:off x="4495800" y="1962150"/>
            <a:ext cx="2857500" cy="1543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1E066A-1F8F-4759-977E-717B6965CF1B}"/>
              </a:ext>
            </a:extLst>
          </p:cNvPr>
          <p:cNvSpPr>
            <a:spLocks noGrp="1"/>
          </p:cNvSpPr>
          <p:nvPr/>
        </p:nvSpPr>
        <p:spPr>
          <a:xfrm>
            <a:off x="4495800" y="1962150"/>
            <a:ext cx="2857500" cy="7620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3307D5-7BED-49A4-908F-99AB4A8A8364}"/>
              </a:ext>
            </a:extLst>
          </p:cNvPr>
          <p:cNvSpPr>
            <a:spLocks noGrp="1"/>
          </p:cNvSpPr>
          <p:nvPr/>
        </p:nvSpPr>
        <p:spPr>
          <a:xfrm>
            <a:off x="4724400" y="23241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Generated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A3F6AB-1033-4B28-924A-668268773E5D}"/>
              </a:ext>
            </a:extLst>
          </p:cNvPr>
          <p:cNvSpPr>
            <a:spLocks noGrp="1"/>
          </p:cNvSpPr>
          <p:nvPr/>
        </p:nvSpPr>
        <p:spPr>
          <a:xfrm>
            <a:off x="4724400" y="2724150"/>
            <a:ext cx="2343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The answer should remain grounded in context.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392DF3-C619-439B-B056-3158D9FB2F5B}"/>
              </a:ext>
            </a:extLst>
          </p:cNvPr>
          <p:cNvSpPr>
            <a:spLocks noGrp="1"/>
          </p:cNvSpPr>
          <p:nvPr/>
        </p:nvSpPr>
        <p:spPr>
          <a:xfrm>
            <a:off x="7581900" y="2476500"/>
            <a:ext cx="323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9CD04B-F5A1-42E1-9599-6428E450C7C2}"/>
              </a:ext>
            </a:extLst>
          </p:cNvPr>
          <p:cNvSpPr>
            <a:spLocks noGrp="1"/>
          </p:cNvSpPr>
          <p:nvPr/>
        </p:nvSpPr>
        <p:spPr>
          <a:xfrm>
            <a:off x="8153400" y="1962150"/>
            <a:ext cx="2857500" cy="1543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CB9100-5F95-427D-8519-4E600B48016F}"/>
              </a:ext>
            </a:extLst>
          </p:cNvPr>
          <p:cNvSpPr>
            <a:spLocks noGrp="1"/>
          </p:cNvSpPr>
          <p:nvPr/>
        </p:nvSpPr>
        <p:spPr>
          <a:xfrm>
            <a:off x="8153400" y="1962150"/>
            <a:ext cx="2857500" cy="762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69CC71-A262-4CC7-9497-E1C819659F22}"/>
              </a:ext>
            </a:extLst>
          </p:cNvPr>
          <p:cNvSpPr>
            <a:spLocks noGrp="1"/>
          </p:cNvSpPr>
          <p:nvPr/>
        </p:nvSpPr>
        <p:spPr>
          <a:xfrm>
            <a:off x="8382000" y="23241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Faithfulness score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4BD78F-8A36-4616-B845-C32065835669}"/>
              </a:ext>
            </a:extLst>
          </p:cNvPr>
          <p:cNvSpPr>
            <a:spLocks noGrp="1"/>
          </p:cNvSpPr>
          <p:nvPr/>
        </p:nvSpPr>
        <p:spPr>
          <a:xfrm>
            <a:off x="8382000" y="2724150"/>
            <a:ext cx="2343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The score supports research and deployment claims.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EB507A-AE05-4A75-8E59-384AA224BEC0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4457700" cy="11049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2D8C0A-68D6-49A8-BC6D-F665C3AD58E6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4457700" cy="571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B35186-FA85-4E2C-B0CC-5BB40AFDD907}"/>
              </a:ext>
            </a:extLst>
          </p:cNvPr>
          <p:cNvSpPr>
            <a:spLocks noGrp="1"/>
          </p:cNvSpPr>
          <p:nvPr/>
        </p:nvSpPr>
        <p:spPr>
          <a:xfrm>
            <a:off x="1009650" y="4267200"/>
            <a:ext cx="4114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Paper scope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0A56EF-EC67-4F72-A044-EC8FFB3E7DEF}"/>
              </a:ext>
            </a:extLst>
          </p:cNvPr>
          <p:cNvSpPr>
            <a:spLocks noGrp="1"/>
          </p:cNvSpPr>
          <p:nvPr/>
        </p:nvSpPr>
        <p:spPr>
          <a:xfrm>
            <a:off x="1009650" y="4572000"/>
            <a:ext cx="41148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Faithfulness asks whether the answer is supported by the retrieved context.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7FD43D-9143-4779-B44F-15C61D7EB5BD}"/>
              </a:ext>
            </a:extLst>
          </p:cNvPr>
          <p:cNvSpPr>
            <a:spLocks noGrp="1"/>
          </p:cNvSpPr>
          <p:nvPr/>
        </p:nvSpPr>
        <p:spPr>
          <a:xfrm>
            <a:off x="5715000" y="4095750"/>
            <a:ext cx="4914900" cy="11049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AC1EE8-5BB8-4A86-9A37-2015B7555469}"/>
              </a:ext>
            </a:extLst>
          </p:cNvPr>
          <p:cNvSpPr>
            <a:spLocks noGrp="1"/>
          </p:cNvSpPr>
          <p:nvPr/>
        </p:nvSpPr>
        <p:spPr>
          <a:xfrm>
            <a:off x="5715000" y="4095750"/>
            <a:ext cx="4914900" cy="571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051FAA-0236-4C34-820E-EA7215894CDA}"/>
              </a:ext>
            </a:extLst>
          </p:cNvPr>
          <p:cNvSpPr>
            <a:spLocks noGrp="1"/>
          </p:cNvSpPr>
          <p:nvPr/>
        </p:nvSpPr>
        <p:spPr>
          <a:xfrm>
            <a:off x="5886450" y="4267200"/>
            <a:ext cx="457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Reliability question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B882CE-C12E-4308-AD13-2FD0CD4E8FAF}"/>
              </a:ext>
            </a:extLst>
          </p:cNvPr>
          <p:cNvSpPr>
            <a:spLocks noGrp="1"/>
          </p:cNvSpPr>
          <p:nvPr/>
        </p:nvSpPr>
        <p:spPr>
          <a:xfrm>
            <a:off x="5886450" y="4572000"/>
            <a:ext cx="4572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Do different frameworks give compatible conclusions on the same answer?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52A4AB-3D0A-447F-8342-7FEA74F7E690}"/>
              </a:ext>
            </a:extLst>
          </p:cNvPr>
          <p:cNvSpPr>
            <a:spLocks noGrp="1"/>
          </p:cNvSpPr>
          <p:nvPr/>
        </p:nvSpPr>
        <p:spPr>
          <a:xfrm>
            <a:off x="838200" y="5562600"/>
            <a:ext cx="979170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D193AD-7B1E-4272-9A39-473D5B57C842}"/>
              </a:ext>
            </a:extLst>
          </p:cNvPr>
          <p:cNvSpPr>
            <a:spLocks noGrp="1"/>
          </p:cNvSpPr>
          <p:nvPr/>
        </p:nvSpPr>
        <p:spPr>
          <a:xfrm>
            <a:off x="838200" y="556260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DDB5B2-592D-4936-AF53-9B393145FB22}"/>
              </a:ext>
            </a:extLst>
          </p:cNvPr>
          <p:cNvSpPr>
            <a:spLocks noGrp="1"/>
          </p:cNvSpPr>
          <p:nvPr/>
        </p:nvSpPr>
        <p:spPr>
          <a:xfrm>
            <a:off x="1009650" y="568642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Talk focus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A7C114-5148-4BAC-82C5-6888B6ED2887}"/>
              </a:ext>
            </a:extLst>
          </p:cNvPr>
          <p:cNvSpPr>
            <a:spLocks noGrp="1"/>
          </p:cNvSpPr>
          <p:nvPr/>
        </p:nvSpPr>
        <p:spPr>
          <a:xfrm>
            <a:off x="2686050" y="5676900"/>
            <a:ext cx="7772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The paper tests the measurement tools used to judge RAG faithfulness.</a:t>
            </a:r>
          </a:p>
        </p:txBody>
      </p:sp>
    </p:spTree>
    <p:extLst>
      <p:ext uri="{BB962C8B-B14F-4D97-AF65-F5344CB8AC3E}">
        <p14:creationId xmlns:p14="http://schemas.microsoft.com/office/powerpoint/2010/main" val="306324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C76DDCD-708A-4A2B-A01B-25061FE5C5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2D5E69-A149-4C66-BECA-AA2507F8EE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99112C-B816-4A40-8CE0-E2CFC5EFC52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76CFC7-4BC9-4957-9626-66406F6FEA2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C0345D-F0CF-4742-9E4D-96D2D0EDE7CB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The evaluation ecosystem makes interchangeability a testable assumption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A91D2-1020-49DC-B281-E548F2A577F5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F1E98D-8F84-4AC2-8171-A1C157BCEEE0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2F7242-E6E8-4E61-B98A-B19CA1997AD0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2381250" cy="1238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99BE3F-F0E8-45EE-8C1B-A2A555668D9D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2381250" cy="66675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BBFC0D-9790-4FFC-B47C-F771D853BC5D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LLM-as-judge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C3A5CE-065E-486E-9372-7384E9E7AD7E}"/>
              </a:ext>
            </a:extLst>
          </p:cNvPr>
          <p:cNvSpPr>
            <a:spLocks noGrp="1"/>
          </p:cNvSpPr>
          <p:nvPr/>
        </p:nvSpPr>
        <p:spPr>
          <a:xfrm>
            <a:off x="838200" y="2647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Prompted judge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62F1E9-E570-42A1-8F2B-41C65B644C3C}"/>
              </a:ext>
            </a:extLst>
          </p:cNvPr>
          <p:cNvSpPr>
            <a:spLocks noGrp="1"/>
          </p:cNvSpPr>
          <p:nvPr/>
        </p:nvSpPr>
        <p:spPr>
          <a:xfrm>
            <a:off x="3448050" y="1943100"/>
            <a:ext cx="2381250" cy="1238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5520B1-8138-4D9D-A1F9-120D3D820DCC}"/>
              </a:ext>
            </a:extLst>
          </p:cNvPr>
          <p:cNvSpPr>
            <a:spLocks noGrp="1"/>
          </p:cNvSpPr>
          <p:nvPr/>
        </p:nvSpPr>
        <p:spPr>
          <a:xfrm>
            <a:off x="3448050" y="1943100"/>
            <a:ext cx="2381250" cy="66675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435836-BDF7-41C5-973F-EBAA894D4EC7}"/>
              </a:ext>
            </a:extLst>
          </p:cNvPr>
          <p:cNvSpPr>
            <a:spLocks noGrp="1"/>
          </p:cNvSpPr>
          <p:nvPr/>
        </p:nvSpPr>
        <p:spPr>
          <a:xfrm>
            <a:off x="3619500" y="2286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NLI based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3F89AD-0CFA-4537-B56A-661D9A059605}"/>
              </a:ext>
            </a:extLst>
          </p:cNvPr>
          <p:cNvSpPr>
            <a:spLocks noGrp="1"/>
          </p:cNvSpPr>
          <p:nvPr/>
        </p:nvSpPr>
        <p:spPr>
          <a:xfrm>
            <a:off x="3619500" y="2647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Claim entailment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E4F91C-23CB-46D1-8DF8-C41D9DEFF815}"/>
              </a:ext>
            </a:extLst>
          </p:cNvPr>
          <p:cNvSpPr>
            <a:spLocks noGrp="1"/>
          </p:cNvSpPr>
          <p:nvPr/>
        </p:nvSpPr>
        <p:spPr>
          <a:xfrm>
            <a:off x="6229350" y="1943100"/>
            <a:ext cx="2381250" cy="1238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1500B1-A5F7-4E15-84DF-2431F06E0050}"/>
              </a:ext>
            </a:extLst>
          </p:cNvPr>
          <p:cNvSpPr>
            <a:spLocks noGrp="1"/>
          </p:cNvSpPr>
          <p:nvPr/>
        </p:nvSpPr>
        <p:spPr>
          <a:xfrm>
            <a:off x="6229350" y="1943100"/>
            <a:ext cx="2381250" cy="66675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1D59AC-A26F-4137-8BBF-230481DA7B4E}"/>
              </a:ext>
            </a:extLst>
          </p:cNvPr>
          <p:cNvSpPr>
            <a:spLocks noGrp="1"/>
          </p:cNvSpPr>
          <p:nvPr/>
        </p:nvSpPr>
        <p:spPr>
          <a:xfrm>
            <a:off x="6400800" y="2286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Embedding and QA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98D420-0AB8-47C2-853B-A9958FF6A1D0}"/>
              </a:ext>
            </a:extLst>
          </p:cNvPr>
          <p:cNvSpPr>
            <a:spLocks noGrp="1"/>
          </p:cNvSpPr>
          <p:nvPr/>
        </p:nvSpPr>
        <p:spPr>
          <a:xfrm>
            <a:off x="6400800" y="2647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Semantic overlap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11EB86-2F96-468B-B1F1-E197ED2DBBF6}"/>
              </a:ext>
            </a:extLst>
          </p:cNvPr>
          <p:cNvSpPr>
            <a:spLocks noGrp="1"/>
          </p:cNvSpPr>
          <p:nvPr/>
        </p:nvSpPr>
        <p:spPr>
          <a:xfrm>
            <a:off x="9010650" y="1943100"/>
            <a:ext cx="2381250" cy="1238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A8DBCC-75BE-4E46-9B5E-6DFF4CE2EECB}"/>
              </a:ext>
            </a:extLst>
          </p:cNvPr>
          <p:cNvSpPr>
            <a:spLocks noGrp="1"/>
          </p:cNvSpPr>
          <p:nvPr/>
        </p:nvSpPr>
        <p:spPr>
          <a:xfrm>
            <a:off x="9010650" y="1943100"/>
            <a:ext cx="2381250" cy="66675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C6E4B3-752B-4734-8EF8-F0A55B1A1788}"/>
              </a:ext>
            </a:extLst>
          </p:cNvPr>
          <p:cNvSpPr>
            <a:spLocks noGrp="1"/>
          </p:cNvSpPr>
          <p:nvPr/>
        </p:nvSpPr>
        <p:spPr>
          <a:xfrm>
            <a:off x="9182100" y="2286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Interpretability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4255B0-6D87-45BA-B339-A00748BB0108}"/>
              </a:ext>
            </a:extLst>
          </p:cNvPr>
          <p:cNvSpPr>
            <a:spLocks noGrp="1"/>
          </p:cNvSpPr>
          <p:nvPr/>
        </p:nvSpPr>
        <p:spPr>
          <a:xfrm>
            <a:off x="9182100" y="26479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Context reliance signals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330ED3-9A7A-4801-8BA5-734C6925766E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744200" cy="7239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59254F-01D2-4641-B59B-6E12277610DB}"/>
              </a:ext>
            </a:extLst>
          </p:cNvPr>
          <p:cNvSpPr>
            <a:spLocks noGrp="1"/>
          </p:cNvSpPr>
          <p:nvPr/>
        </p:nvSpPr>
        <p:spPr>
          <a:xfrm>
            <a:off x="876300" y="3943350"/>
            <a:ext cx="1028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 these frameworks measure the same construct, scores should align on identical inputs.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EA0846-335E-47A1-B485-745D2BEC93B4}"/>
              </a:ext>
            </a:extLst>
          </p:cNvPr>
          <p:cNvSpPr>
            <a:spLocks noGrp="1"/>
          </p:cNvSpPr>
          <p:nvPr/>
        </p:nvSpPr>
        <p:spPr>
          <a:xfrm>
            <a:off x="857250" y="4895850"/>
            <a:ext cx="9810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Prior work validates individual tools or compares small subsets.</a:t>
            </a:r>
          </a:p>
          <a:p>
            <a:pPr algn="l">
              <a:defRPr sz="15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This paper asks whether framework choice is interchangeable across the broader ecosystem.</a:t>
            </a:r>
          </a:p>
        </p:txBody>
      </p:sp>
    </p:spTree>
    <p:extLst>
      <p:ext uri="{BB962C8B-B14F-4D97-AF65-F5344CB8AC3E}">
        <p14:creationId xmlns:p14="http://schemas.microsoft.com/office/powerpoint/2010/main" val="11297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2E36516-F551-41DF-9298-595A5CC849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6620A6-03CB-4E49-BACA-CB8C042FB9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34277A-2691-4345-8938-458408099A6C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FB6EC9-AB74-4D06-9960-4518FB1EAAF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FE92EA-A924-4AFE-833B-6F41429C031D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The paper tests faithfulness frameworks under matched conditions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557E9-09E0-4BD6-B642-2A66C89F5A79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3FF852-E880-4B76-AFDC-7A796DADD571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1C2998-BA83-428D-92E5-65CEE4F377FD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10744200" cy="7239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FA1130-F09F-4564-BEC9-6319C2FC4150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1028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Twenty frameworks, the same 200 question-context-answer triples, three domains.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815E44-A02C-4DCD-94D0-CE840A830744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4953000" cy="2476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49E5FE-57EB-4F42-8162-F1F9906AF7CB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76200" cy="24765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064BB6-4CCF-4328-A615-A2B2037174C1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Gaps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F247A6-E4F5-40A6-BD1C-0FC9D5FEAA07}"/>
              </a:ext>
            </a:extLst>
          </p:cNvPr>
          <p:cNvSpPr>
            <a:spLocks noGrp="1"/>
          </p:cNvSpPr>
          <p:nvPr/>
        </p:nvSpPr>
        <p:spPr>
          <a:xfrm>
            <a:off x="914400" y="3619500"/>
            <a:ext cx="434340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No comprehensive pairwise agreement study on identical RAG inputs.</a:t>
            </a:r>
          </a:p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No matched test across general knowledge, finance, and biomedicine.</a:t>
            </a:r>
          </a:p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Formal heterogeneity analysis remains rare in RAG evaluation.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5DD660-5A6E-4BD0-86B8-6BB11FA04CD7}"/>
              </a:ext>
            </a:extLst>
          </p:cNvPr>
          <p:cNvSpPr>
            <a:spLocks noGrp="1"/>
          </p:cNvSpPr>
          <p:nvPr/>
        </p:nvSpPr>
        <p:spPr>
          <a:xfrm>
            <a:off x="6076950" y="2895600"/>
            <a:ext cx="5334000" cy="2476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86142F-36C2-416F-8DF6-E84DF8D0A174}"/>
              </a:ext>
            </a:extLst>
          </p:cNvPr>
          <p:cNvSpPr>
            <a:spLocks noGrp="1"/>
          </p:cNvSpPr>
          <p:nvPr/>
        </p:nvSpPr>
        <p:spPr>
          <a:xfrm>
            <a:off x="6076950" y="2895600"/>
            <a:ext cx="76200" cy="247650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A0F3FB-B528-45A8-BEC6-C05181DA3BCF}"/>
              </a:ext>
            </a:extLst>
          </p:cNvPr>
          <p:cNvSpPr>
            <a:spLocks noGrp="1"/>
          </p:cNvSpPr>
          <p:nvPr/>
        </p:nvSpPr>
        <p:spPr>
          <a:xfrm>
            <a:off x="6324600" y="31623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56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Contributions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B43864-897E-4EE5-B095-B6BA18018537}"/>
              </a:ext>
            </a:extLst>
          </p:cNvPr>
          <p:cNvSpPr>
            <a:spLocks noGrp="1"/>
          </p:cNvSpPr>
          <p:nvPr/>
        </p:nvSpPr>
        <p:spPr>
          <a:xfrm>
            <a:off x="6324600" y="3619500"/>
            <a:ext cx="472440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Controlled reliability comparison of twenty frameworks.</a:t>
            </a:r>
          </a:p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Meta-analytic heterogeneity and pairwise agreement analysis.</a:t>
            </a:r>
          </a:p>
          <a:p>
            <a:pPr algn="l">
              <a:defRPr sz="13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Three clusters plus domain, human, and consensus analyses.</a:t>
            </a:r>
          </a:p>
        </p:txBody>
      </p:sp>
    </p:spTree>
    <p:extLst>
      <p:ext uri="{BB962C8B-B14F-4D97-AF65-F5344CB8AC3E}">
        <p14:creationId xmlns:p14="http://schemas.microsoft.com/office/powerpoint/2010/main" val="1239321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2345C17-C7CF-4954-B68B-F2B5A0452A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1C403F-2888-4EC9-BFBA-4B70B117A2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84051C-D8DC-4EA2-898C-A4003ED8DAE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B2C9C3-00DA-46D2-814C-B168457E228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DEFINITIONS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F722CF-67F3-4E37-9CB5-54F0EAD34A88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The study narrows faithfulness before it measures reliability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13F0DD-AF38-425D-BE0F-BDA842BCD261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0AA2B-2177-4069-83FD-4F783AD92DC6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15FBE-7E1D-47F1-A9EA-B997C94D5469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668000" cy="125730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E6363D-9118-4449-9827-7BCE5980EB38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668000" cy="571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BAD6E-FB38-434C-B9A4-7C0C71266FA7}"/>
              </a:ext>
            </a:extLst>
          </p:cNvPr>
          <p:cNvSpPr>
            <a:spLocks noGrp="1"/>
          </p:cNvSpPr>
          <p:nvPr/>
        </p:nvSpPr>
        <p:spPr>
          <a:xfrm>
            <a:off x="857250" y="2019300"/>
            <a:ext cx="10325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Working definition of faithfulness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65C187-9795-4568-84F5-E5D11D40FB4E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10325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Every claim in the answer is entailed by context X, and no claim contradicts X.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F826FE-D06B-4EBB-967D-3BA59B1C4478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4953000" cy="10668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4B699F-907F-4FD3-BA12-FAEFB9E574AB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4953000" cy="571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1BFCFC-C823-4170-93E9-05844BCAB547}"/>
              </a:ext>
            </a:extLst>
          </p:cNvPr>
          <p:cNvSpPr>
            <a:spLocks noGrp="1"/>
          </p:cNvSpPr>
          <p:nvPr/>
        </p:nvSpPr>
        <p:spPr>
          <a:xfrm>
            <a:off x="857250" y="3524250"/>
            <a:ext cx="461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Excluded from this definition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2AB524-B91F-4126-A6D9-02E2C7C68E9C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4610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Completeness, fluency, and relevance to the query.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E82692-F339-4477-8141-A924EBCEE1C8}"/>
              </a:ext>
            </a:extLst>
          </p:cNvPr>
          <p:cNvSpPr>
            <a:spLocks noGrp="1"/>
          </p:cNvSpPr>
          <p:nvPr/>
        </p:nvSpPr>
        <p:spPr>
          <a:xfrm>
            <a:off x="6076950" y="3352800"/>
            <a:ext cx="5276850" cy="10668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0A2D6A-7272-466C-980E-046338589A06}"/>
              </a:ext>
            </a:extLst>
          </p:cNvPr>
          <p:cNvSpPr>
            <a:spLocks noGrp="1"/>
          </p:cNvSpPr>
          <p:nvPr/>
        </p:nvSpPr>
        <p:spPr>
          <a:xfrm>
            <a:off x="6076950" y="3352800"/>
            <a:ext cx="5276850" cy="571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AE070E-31D8-4995-AE1F-4135C8A209BB}"/>
              </a:ext>
            </a:extLst>
          </p:cNvPr>
          <p:cNvSpPr>
            <a:spLocks noGrp="1"/>
          </p:cNvSpPr>
          <p:nvPr/>
        </p:nvSpPr>
        <p:spPr>
          <a:xfrm>
            <a:off x="6248400" y="3524250"/>
            <a:ext cx="493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Meta-analysis for reliability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9CB16A-812C-4550-BBFC-11A11D3C3716}"/>
              </a:ext>
            </a:extLst>
          </p:cNvPr>
          <p:cNvSpPr>
            <a:spLocks noGrp="1"/>
          </p:cNvSpPr>
          <p:nvPr/>
        </p:nvSpPr>
        <p:spPr>
          <a:xfrm>
            <a:off x="6248400" y="3829050"/>
            <a:ext cx="4933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Cochran's Q and I-squared test whether variation across instruments exceeds sampling error.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F5FDC7-A91A-4D5C-9DC1-6F5249F91523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66800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5DF379-0267-431A-97EC-C307F2B151C2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EFFC36-62F8-4523-9071-FC4548864BA9}"/>
              </a:ext>
            </a:extLst>
          </p:cNvPr>
          <p:cNvSpPr>
            <a:spLocks noGrp="1"/>
          </p:cNvSpPr>
          <p:nvPr/>
        </p:nvSpPr>
        <p:spPr>
          <a:xfrm>
            <a:off x="857250" y="507682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Why this axis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6651C3-1522-48E7-B956-0667191B5C3C}"/>
              </a:ext>
            </a:extLst>
          </p:cNvPr>
          <p:cNvSpPr>
            <a:spLocks noGrp="1"/>
          </p:cNvSpPr>
          <p:nvPr/>
        </p:nvSpPr>
        <p:spPr>
          <a:xfrm>
            <a:off x="2533650" y="5067300"/>
            <a:ext cx="8648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Faithfulness is the property all twenty frameworks claim to measure.</a:t>
            </a:r>
          </a:p>
        </p:txBody>
      </p:sp>
    </p:spTree>
    <p:extLst>
      <p:ext uri="{BB962C8B-B14F-4D97-AF65-F5344CB8AC3E}">
        <p14:creationId xmlns:p14="http://schemas.microsoft.com/office/powerpoint/2010/main" val="1057802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C96B077-AC20-4CE8-A936-A9515AB7F6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2F559F-2A84-4D89-80E1-8B00F0DB7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7C5BD2-9C6A-49FE-86CC-737CD672603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13B08B-3B03-4F53-8580-470806D61E9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439A2B-7F0A-427E-809F-D5A26C9A3E2D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Twenty frameworks span the paper's framework 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D41F57-4297-4478-A6BC-7DF10FAABDA9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AFBD4-4A7D-4A75-9244-11CCF5FE96C5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70EFAD-9956-4E10-8172-E376F84153B5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10515600" cy="533400"/>
          </a:xfrm>
          <a:prstGeom prst="rect">
            <a:avLst/>
          </a:prstGeom>
          <a:solidFill>
            <a:srgbClr val="002147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FF1FF6-F380-4919-9158-05BC71B36B42}"/>
              </a:ext>
            </a:extLst>
          </p:cNvPr>
          <p:cNvSpPr>
            <a:spLocks noGrp="1"/>
          </p:cNvSpPr>
          <p:nvPr/>
        </p:nvSpPr>
        <p:spPr>
          <a:xfrm>
            <a:off x="1009650" y="19240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404958-DE69-4A74-8F30-7FDA8375D897}"/>
              </a:ext>
            </a:extLst>
          </p:cNvPr>
          <p:cNvSpPr>
            <a:spLocks noGrp="1"/>
          </p:cNvSpPr>
          <p:nvPr/>
        </p:nvSpPr>
        <p:spPr>
          <a:xfrm>
            <a:off x="3619500" y="19240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Frameworks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B0FFA5-B379-4EBA-9A85-FB1D1558345D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0515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107154-3E3C-49C1-BF36-C8BE9534CF17}"/>
              </a:ext>
            </a:extLst>
          </p:cNvPr>
          <p:cNvSpPr>
            <a:spLocks noGrp="1"/>
          </p:cNvSpPr>
          <p:nvPr/>
        </p:nvSpPr>
        <p:spPr>
          <a:xfrm>
            <a:off x="1009650" y="24574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LLM-as-judge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4464F4-7748-4427-81A3-1DC0B391A796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RAGAS, G-Eval, DeepEval, FaithJudge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D66E9F-3355-423B-BF46-69FCFD589F69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10515600" cy="5334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F6F522-3B48-433A-BC93-D026F687CF5C}"/>
              </a:ext>
            </a:extLst>
          </p:cNvPr>
          <p:cNvSpPr>
            <a:spLocks noGrp="1"/>
          </p:cNvSpPr>
          <p:nvPr/>
        </p:nvSpPr>
        <p:spPr>
          <a:xfrm>
            <a:off x="1009650" y="29908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NLI based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6674EA-E7CE-4633-97D9-2DF34A4DBDD8}"/>
              </a:ext>
            </a:extLst>
          </p:cNvPr>
          <p:cNvSpPr>
            <a:spLocks noGrp="1"/>
          </p:cNvSpPr>
          <p:nvPr/>
        </p:nvSpPr>
        <p:spPr>
          <a:xfrm>
            <a:off x="3619500" y="29908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RAGChecker, HALT-RAG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92A25E-48E0-44DC-8C48-F7C79221E58F}"/>
              </a:ext>
            </a:extLst>
          </p:cNvPr>
          <p:cNvSpPr>
            <a:spLocks noGrp="1"/>
          </p:cNvSpPr>
          <p:nvPr/>
        </p:nvSpPr>
        <p:spPr>
          <a:xfrm>
            <a:off x="914400" y="3409950"/>
            <a:ext cx="10515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A843EC-19C6-49D2-9DE3-7EDFC2346869}"/>
              </a:ext>
            </a:extLst>
          </p:cNvPr>
          <p:cNvSpPr>
            <a:spLocks noGrp="1"/>
          </p:cNvSpPr>
          <p:nvPr/>
        </p:nvSpPr>
        <p:spPr>
          <a:xfrm>
            <a:off x="1009650" y="35242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Embedding and QA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122583-0740-4D8D-8F6C-3FA71785ECF4}"/>
              </a:ext>
            </a:extLst>
          </p:cNvPr>
          <p:cNvSpPr>
            <a:spLocks noGrp="1"/>
          </p:cNvSpPr>
          <p:nvPr/>
        </p:nvSpPr>
        <p:spPr>
          <a:xfrm>
            <a:off x="3619500" y="35242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BERTScore, UniEval, QAFactEval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FEEA59-B749-497A-B086-0BCCC4B8424D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0515600" cy="5334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C3A145-10DF-4AFF-A36A-B73C6D14E502}"/>
              </a:ext>
            </a:extLst>
          </p:cNvPr>
          <p:cNvSpPr>
            <a:spLocks noGrp="1"/>
          </p:cNvSpPr>
          <p:nvPr/>
        </p:nvSpPr>
        <p:spPr>
          <a:xfrm>
            <a:off x="1009650" y="40576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Token and classifier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7B44B6-1344-45CE-913C-71FB73304929}"/>
              </a:ext>
            </a:extLst>
          </p:cNvPr>
          <p:cNvSpPr>
            <a:spLocks noGrp="1"/>
          </p:cNvSpPr>
          <p:nvPr/>
        </p:nvSpPr>
        <p:spPr>
          <a:xfrm>
            <a:off x="3619500" y="40576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TRACe, ARES, LettuceDetect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8866C6-236C-4093-BF7F-1E538D2E0E05}"/>
              </a:ext>
            </a:extLst>
          </p:cNvPr>
          <p:cNvSpPr>
            <a:spLocks noGrp="1"/>
          </p:cNvSpPr>
          <p:nvPr/>
        </p:nvSpPr>
        <p:spPr>
          <a:xfrm>
            <a:off x="914400" y="4476750"/>
            <a:ext cx="10515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C77B97-E856-4322-8422-3D819D3267D6}"/>
              </a:ext>
            </a:extLst>
          </p:cNvPr>
          <p:cNvSpPr>
            <a:spLocks noGrp="1"/>
          </p:cNvSpPr>
          <p:nvPr/>
        </p:nvSpPr>
        <p:spPr>
          <a:xfrm>
            <a:off x="1009650" y="45910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Interpretability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21C997-98BC-4B76-BDA2-D4A9E3F902F9}"/>
              </a:ext>
            </a:extLst>
          </p:cNvPr>
          <p:cNvSpPr>
            <a:spLocks noGrp="1"/>
          </p:cNvSpPr>
          <p:nvPr/>
        </p:nvSpPr>
        <p:spPr>
          <a:xfrm>
            <a:off x="3619500" y="45910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ReDeEP, LRP4RAG, LUMINA, HSAD, SIRG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E85F44-78A2-48BC-AE67-5F695B11FB36}"/>
              </a:ext>
            </a:extLst>
          </p:cNvPr>
          <p:cNvSpPr>
            <a:spLocks noGrp="1"/>
          </p:cNvSpPr>
          <p:nvPr/>
        </p:nvSpPr>
        <p:spPr>
          <a:xfrm>
            <a:off x="914400" y="5010150"/>
            <a:ext cx="10515600" cy="5334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2E8483-2739-42DB-B5FD-BE953A393C4A}"/>
              </a:ext>
            </a:extLst>
          </p:cNvPr>
          <p:cNvSpPr>
            <a:spLocks noGrp="1"/>
          </p:cNvSpPr>
          <p:nvPr/>
        </p:nvSpPr>
        <p:spPr>
          <a:xfrm>
            <a:off x="1009650" y="5124450"/>
            <a:ext cx="2419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Other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FAC9EC-BA1F-4057-AE0B-D532B5F0C145}"/>
              </a:ext>
            </a:extLst>
          </p:cNvPr>
          <p:cNvSpPr>
            <a:spLocks noGrp="1"/>
          </p:cNvSpPr>
          <p:nvPr/>
        </p:nvSpPr>
        <p:spPr>
          <a:xfrm>
            <a:off x="3619500" y="5124450"/>
            <a:ext cx="771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GaRAGe, MetaRAG, KG-RAG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DBBBE6-AB8E-4855-BC1F-F12AD24C1DEE}"/>
              </a:ext>
            </a:extLst>
          </p:cNvPr>
          <p:cNvSpPr>
            <a:spLocks noGrp="1"/>
          </p:cNvSpPr>
          <p:nvPr/>
        </p:nvSpPr>
        <p:spPr>
          <a:xfrm>
            <a:off x="914400" y="5657850"/>
            <a:ext cx="10515600" cy="5905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09F05A-1CA5-4871-8B8A-7A256D95B63A}"/>
              </a:ext>
            </a:extLst>
          </p:cNvPr>
          <p:cNvSpPr>
            <a:spLocks noGrp="1"/>
          </p:cNvSpPr>
          <p:nvPr/>
        </p:nvSpPr>
        <p:spPr>
          <a:xfrm>
            <a:off x="914400" y="5657850"/>
            <a:ext cx="66675" cy="5905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9AD2F7-915E-4E24-A581-698998A366C0}"/>
              </a:ext>
            </a:extLst>
          </p:cNvPr>
          <p:cNvSpPr>
            <a:spLocks noGrp="1"/>
          </p:cNvSpPr>
          <p:nvPr/>
        </p:nvSpPr>
        <p:spPr>
          <a:xfrm>
            <a:off x="1085850" y="57816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56B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14E9FA-EFD4-4080-B6D2-723DA02A0447}"/>
              </a:ext>
            </a:extLst>
          </p:cNvPr>
          <p:cNvSpPr>
            <a:spLocks noGrp="1"/>
          </p:cNvSpPr>
          <p:nvPr/>
        </p:nvSpPr>
        <p:spPr>
          <a:xfrm>
            <a:off x="2762250" y="5772150"/>
            <a:ext cx="8496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The study spans six years of development, from 2020 through 2026.</a:t>
            </a:r>
          </a:p>
        </p:txBody>
      </p:sp>
    </p:spTree>
    <p:extLst>
      <p:ext uri="{BB962C8B-B14F-4D97-AF65-F5344CB8AC3E}">
        <p14:creationId xmlns:p14="http://schemas.microsoft.com/office/powerpoint/2010/main" val="45120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FCF0754-D1EE-4F4D-A709-F9701C1086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0F0C0-B19F-436F-9E4E-CA434A1DE3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1F5BF2-E582-4094-8C7F-164A3F13B3F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25D531-6C0C-4B1F-8977-3E8756BEA48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E38A57-6485-4F04-A65A-03B683983D33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Every framework sees the same 200 RAGBench samples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D1A9F-77B4-47F1-BA8B-C1423485FD52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EDC83E-AFE1-484E-ABE9-9FFDE7D39FF5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751288-F0F1-4C29-8B56-0980013C116C}"/>
              </a:ext>
            </a:extLst>
          </p:cNvPr>
          <p:cNvSpPr>
            <a:spLocks noGrp="1"/>
          </p:cNvSpPr>
          <p:nvPr/>
        </p:nvSpPr>
        <p:spPr>
          <a:xfrm>
            <a:off x="762000" y="1924050"/>
            <a:ext cx="3048000" cy="1809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C86CF5-70E3-4A14-BBE2-78C83F9BDB5E}"/>
              </a:ext>
            </a:extLst>
          </p:cNvPr>
          <p:cNvSpPr>
            <a:spLocks noGrp="1"/>
          </p:cNvSpPr>
          <p:nvPr/>
        </p:nvSpPr>
        <p:spPr>
          <a:xfrm>
            <a:off x="762000" y="1924050"/>
            <a:ext cx="3048000" cy="762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FC48CD-1EA2-40B1-952D-EA751FFFD3C6}"/>
              </a:ext>
            </a:extLst>
          </p:cNvPr>
          <p:cNvSpPr>
            <a:spLocks noGrp="1"/>
          </p:cNvSpPr>
          <p:nvPr/>
        </p:nvSpPr>
        <p:spPr>
          <a:xfrm>
            <a:off x="971550" y="22669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General Knowledge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345CF2-5275-4B3A-93D7-0222AE187E23}"/>
              </a:ext>
            </a:extLst>
          </p:cNvPr>
          <p:cNvSpPr>
            <a:spLocks noGrp="1"/>
          </p:cNvSpPr>
          <p:nvPr/>
        </p:nvSpPr>
        <p:spPr>
          <a:xfrm>
            <a:off x="971550" y="2667000"/>
            <a:ext cx="2571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67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7F5A54-0B6B-4261-ACB4-C6913BA4B9E3}"/>
              </a:ext>
            </a:extLst>
          </p:cNvPr>
          <p:cNvSpPr>
            <a:spLocks noGrp="1"/>
          </p:cNvSpPr>
          <p:nvPr/>
        </p:nvSpPr>
        <p:spPr>
          <a:xfrm>
            <a:off x="971550" y="32766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HotpotQA, MS MARCO, HAGRID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3F8BCE-FF5D-401E-9FAA-33824D63C6C2}"/>
              </a:ext>
            </a:extLst>
          </p:cNvPr>
          <p:cNvSpPr>
            <a:spLocks noGrp="1"/>
          </p:cNvSpPr>
          <p:nvPr/>
        </p:nvSpPr>
        <p:spPr>
          <a:xfrm>
            <a:off x="4362450" y="1924050"/>
            <a:ext cx="3048000" cy="1809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C8FF92-6F6D-4DAD-9201-B9FD1BC3B351}"/>
              </a:ext>
            </a:extLst>
          </p:cNvPr>
          <p:cNvSpPr>
            <a:spLocks noGrp="1"/>
          </p:cNvSpPr>
          <p:nvPr/>
        </p:nvSpPr>
        <p:spPr>
          <a:xfrm>
            <a:off x="4362450" y="1924050"/>
            <a:ext cx="3048000" cy="762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7645A-D9DF-42E0-B31F-50CBDC0339D7}"/>
              </a:ext>
            </a:extLst>
          </p:cNvPr>
          <p:cNvSpPr>
            <a:spLocks noGrp="1"/>
          </p:cNvSpPr>
          <p:nvPr/>
        </p:nvSpPr>
        <p:spPr>
          <a:xfrm>
            <a:off x="4572000" y="22669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75419-9989-4407-82BB-E0F4CFF3F82F}"/>
              </a:ext>
            </a:extLst>
          </p:cNvPr>
          <p:cNvSpPr>
            <a:spLocks noGrp="1"/>
          </p:cNvSpPr>
          <p:nvPr/>
        </p:nvSpPr>
        <p:spPr>
          <a:xfrm>
            <a:off x="4572000" y="2667000"/>
            <a:ext cx="2571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rPr>
              <a:t>67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CC4372-4EC0-4BD3-AE6F-A0CA693689AB}"/>
              </a:ext>
            </a:extLst>
          </p:cNvPr>
          <p:cNvSpPr>
            <a:spLocks noGrp="1"/>
          </p:cNvSpPr>
          <p:nvPr/>
        </p:nvSpPr>
        <p:spPr>
          <a:xfrm>
            <a:off x="4572000" y="32766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FinQA, DelucionQA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9FB98B-6442-4531-ADE3-81176EF78322}"/>
              </a:ext>
            </a:extLst>
          </p:cNvPr>
          <p:cNvSpPr>
            <a:spLocks noGrp="1"/>
          </p:cNvSpPr>
          <p:nvPr/>
        </p:nvSpPr>
        <p:spPr>
          <a:xfrm>
            <a:off x="7962900" y="1924050"/>
            <a:ext cx="3048000" cy="1809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11F819-C969-40EE-B413-D0226D92FB8C}"/>
              </a:ext>
            </a:extLst>
          </p:cNvPr>
          <p:cNvSpPr>
            <a:spLocks noGrp="1"/>
          </p:cNvSpPr>
          <p:nvPr/>
        </p:nvSpPr>
        <p:spPr>
          <a:xfrm>
            <a:off x="7962900" y="1924050"/>
            <a:ext cx="3048000" cy="7620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2EDCEA-B0A2-4FDB-ACFC-E2622029565A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Biomedicine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A7CD34-99BF-4452-AA66-C0D520B69CAC}"/>
              </a:ext>
            </a:extLst>
          </p:cNvPr>
          <p:cNvSpPr>
            <a:spLocks noGrp="1"/>
          </p:cNvSpPr>
          <p:nvPr/>
        </p:nvSpPr>
        <p:spPr>
          <a:xfrm>
            <a:off x="8172450" y="2667000"/>
            <a:ext cx="2571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0056B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056B3"/>
                </a:solidFill>
                <a:latin typeface="Aptos Display"/>
                <a:ea typeface="Aptos Display"/>
                <a:cs typeface="Aptos Display"/>
              </a:rPr>
              <a:t>66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6984C8-C6C9-47C2-871A-4BBB0C2DBCB6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CovidQA, PubMedQA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640921-E9FB-49EE-B2C6-0D7CB5CDC536}"/>
              </a:ext>
            </a:extLst>
          </p:cNvPr>
          <p:cNvSpPr>
            <a:spLocks noGrp="1"/>
          </p:cNvSpPr>
          <p:nvPr/>
        </p:nvSpPr>
        <p:spPr>
          <a:xfrm>
            <a:off x="1143000" y="4419600"/>
            <a:ext cx="96202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Each framework sees the same question-context-answer triples.</a:t>
            </a:r>
          </a:p>
          <a:p>
            <a:pPr algn="l">
              <a:defRPr sz="16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The stratified sample separates domain effects from framework behavior.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3AC19C-8151-4A7E-8BE5-A8B48365D02F}"/>
              </a:ext>
            </a:extLst>
          </p:cNvPr>
          <p:cNvSpPr>
            <a:spLocks noGrp="1"/>
          </p:cNvSpPr>
          <p:nvPr/>
        </p:nvSpPr>
        <p:spPr>
          <a:xfrm>
            <a:off x="1143000" y="5505450"/>
            <a:ext cx="962025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93556D-A9CD-4C71-BA48-75E5F61DDE22}"/>
              </a:ext>
            </a:extLst>
          </p:cNvPr>
          <p:cNvSpPr>
            <a:spLocks noGrp="1"/>
          </p:cNvSpPr>
          <p:nvPr/>
        </p:nvSpPr>
        <p:spPr>
          <a:xfrm>
            <a:off x="1143000" y="550545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01E46E-37B3-4C34-AFFB-4D655BA50198}"/>
              </a:ext>
            </a:extLst>
          </p:cNvPr>
          <p:cNvSpPr>
            <a:spLocks noGrp="1"/>
          </p:cNvSpPr>
          <p:nvPr/>
        </p:nvSpPr>
        <p:spPr>
          <a:xfrm>
            <a:off x="1314450" y="56292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Controlled by design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9ADC61-6A0F-4FAE-A27B-C9B73FC4CB78}"/>
              </a:ext>
            </a:extLst>
          </p:cNvPr>
          <p:cNvSpPr>
            <a:spLocks noGrp="1"/>
          </p:cNvSpPr>
          <p:nvPr/>
        </p:nvSpPr>
        <p:spPr>
          <a:xfrm>
            <a:off x="2990850" y="5619750"/>
            <a:ext cx="76009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Score differences can be studied under matched inputs.</a:t>
            </a:r>
          </a:p>
        </p:txBody>
      </p:sp>
    </p:spTree>
    <p:extLst>
      <p:ext uri="{BB962C8B-B14F-4D97-AF65-F5344CB8AC3E}">
        <p14:creationId xmlns:p14="http://schemas.microsoft.com/office/powerpoint/2010/main" val="1174958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BB805FC-7D58-4E1B-818A-FC6BA5D560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A6ADCA-E24A-4278-8E2D-CB2D6804AE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6A9A25-638A-453C-9AF3-FED286811C23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E4127B-628D-4040-9B1B-CF3DD643021C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429E42-2620-451D-8403-0F7A21E9E0F7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The analysis moves from scores to reliability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FC0938-ACB9-48AC-BD9A-F200F4E33058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D810E8-B622-4418-850F-0D6C33F16ED1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1E88CD-3006-4E21-90E2-C9CD496F0044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222885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634FB3-AE02-4D7D-90FF-EB2F88C361AA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FAB290-E2A5-47AE-AA80-64C140C680D4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Score matrix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71CE80-E29C-4FB4-9264-B68B1E94F4C0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Twenty primary scores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E2FCBB-19D5-43C7-8D82-931E0BC93E65}"/>
              </a:ext>
            </a:extLst>
          </p:cNvPr>
          <p:cNvSpPr>
            <a:spLocks noGrp="1"/>
          </p:cNvSpPr>
          <p:nvPr/>
        </p:nvSpPr>
        <p:spPr>
          <a:xfrm>
            <a:off x="2990850" y="219075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C3AB74-91D8-4110-AD50-00485CF8C5E9}"/>
              </a:ext>
            </a:extLst>
          </p:cNvPr>
          <p:cNvSpPr>
            <a:spLocks noGrp="1"/>
          </p:cNvSpPr>
          <p:nvPr/>
        </p:nvSpPr>
        <p:spPr>
          <a:xfrm>
            <a:off x="3390900" y="1790700"/>
            <a:ext cx="222885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7BC2AA-21D6-428D-ACF7-09C66BEFCD60}"/>
              </a:ext>
            </a:extLst>
          </p:cNvPr>
          <p:cNvSpPr>
            <a:spLocks noGrp="1"/>
          </p:cNvSpPr>
          <p:nvPr/>
        </p:nvSpPr>
        <p:spPr>
          <a:xfrm>
            <a:off x="3562350" y="198120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B7290E-D494-4B36-A0DC-E9672312C15E}"/>
              </a:ext>
            </a:extLst>
          </p:cNvPr>
          <p:cNvSpPr>
            <a:spLocks noGrp="1"/>
          </p:cNvSpPr>
          <p:nvPr/>
        </p:nvSpPr>
        <p:spPr>
          <a:xfrm>
            <a:off x="3562350" y="22669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Agreement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B9EC34-FF3A-4088-B8B4-27EBFB52DDB0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Correlations and heterogeneity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CFC189-D139-4AD1-83FD-F8C9CCC83C96}"/>
              </a:ext>
            </a:extLst>
          </p:cNvPr>
          <p:cNvSpPr>
            <a:spLocks noGrp="1"/>
          </p:cNvSpPr>
          <p:nvPr/>
        </p:nvSpPr>
        <p:spPr>
          <a:xfrm>
            <a:off x="5676900" y="219075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0DC26C-2922-4073-A6E7-0D8B0FEE5C78}"/>
              </a:ext>
            </a:extLst>
          </p:cNvPr>
          <p:cNvSpPr>
            <a:spLocks noGrp="1"/>
          </p:cNvSpPr>
          <p:nvPr/>
        </p:nvSpPr>
        <p:spPr>
          <a:xfrm>
            <a:off x="6076950" y="1790700"/>
            <a:ext cx="222885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8C2952-A597-4C4D-9B59-8C092E2175FD}"/>
              </a:ext>
            </a:extLst>
          </p:cNvPr>
          <p:cNvSpPr>
            <a:spLocks noGrp="1"/>
          </p:cNvSpPr>
          <p:nvPr/>
        </p:nvSpPr>
        <p:spPr>
          <a:xfrm>
            <a:off x="6248400" y="198120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95034D-E00F-4BC5-976C-F25DD0338719}"/>
              </a:ext>
            </a:extLst>
          </p:cNvPr>
          <p:cNvSpPr>
            <a:spLocks noGrp="1"/>
          </p:cNvSpPr>
          <p:nvPr/>
        </p:nvSpPr>
        <p:spPr>
          <a:xfrm>
            <a:off x="6248400" y="22669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0B4E57-DC73-4A9D-ACC4-9E378D0126CF}"/>
              </a:ext>
            </a:extLst>
          </p:cNvPr>
          <p:cNvSpPr>
            <a:spLocks noGrp="1"/>
          </p:cNvSpPr>
          <p:nvPr/>
        </p:nvSpPr>
        <p:spPr>
          <a:xfrm>
            <a:off x="6248400" y="259080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Clusters and domains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03960A-2EC2-4B47-96D0-BBAA37DE9A67}"/>
              </a:ext>
            </a:extLst>
          </p:cNvPr>
          <p:cNvSpPr>
            <a:spLocks noGrp="1"/>
          </p:cNvSpPr>
          <p:nvPr/>
        </p:nvSpPr>
        <p:spPr>
          <a:xfrm>
            <a:off x="8362950" y="2190750"/>
            <a:ext cx="266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4B6480-EFD9-4F99-BF41-A348ED45D672}"/>
              </a:ext>
            </a:extLst>
          </p:cNvPr>
          <p:cNvSpPr>
            <a:spLocks noGrp="1"/>
          </p:cNvSpPr>
          <p:nvPr/>
        </p:nvSpPr>
        <p:spPr>
          <a:xfrm>
            <a:off x="8763000" y="1790700"/>
            <a:ext cx="2228850" cy="11049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B240C5-5BAD-48BD-BABE-366FEF21D74A}"/>
              </a:ext>
            </a:extLst>
          </p:cNvPr>
          <p:cNvSpPr>
            <a:spLocks noGrp="1"/>
          </p:cNvSpPr>
          <p:nvPr/>
        </p:nvSpPr>
        <p:spPr>
          <a:xfrm>
            <a:off x="8934450" y="198120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FA637C-DA74-4D41-A963-E4BA3ABB2CE7}"/>
              </a:ext>
            </a:extLst>
          </p:cNvPr>
          <p:cNvSpPr>
            <a:spLocks noGrp="1"/>
          </p:cNvSpPr>
          <p:nvPr/>
        </p:nvSpPr>
        <p:spPr>
          <a:xfrm>
            <a:off x="8934450" y="2266950"/>
            <a:ext cx="1866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6A8369-4816-49CA-989F-64EF22F49AB4}"/>
              </a:ext>
            </a:extLst>
          </p:cNvPr>
          <p:cNvSpPr>
            <a:spLocks noGrp="1"/>
          </p:cNvSpPr>
          <p:nvPr/>
        </p:nvSpPr>
        <p:spPr>
          <a:xfrm>
            <a:off x="8934450" y="259080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Human subset and consensus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9AEEE6-ECCD-4CC5-834B-7ECCE5B74689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4972050" cy="2190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F8640B-5DAE-4FFB-9156-B5B7D361A13B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76200" cy="21907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A68FC2-991E-47D7-BF62-A16E63F2DC85}"/>
              </a:ext>
            </a:extLst>
          </p:cNvPr>
          <p:cNvSpPr>
            <a:spLocks noGrp="1"/>
          </p:cNvSpPr>
          <p:nvPr/>
        </p:nvSpPr>
        <p:spPr>
          <a:xfrm>
            <a:off x="952500" y="36576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56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1C6E5C-09B2-41E0-B8C6-3346C131692B}"/>
              </a:ext>
            </a:extLst>
          </p:cNvPr>
          <p:cNvSpPr>
            <a:spLocks noGrp="1"/>
          </p:cNvSpPr>
          <p:nvPr/>
        </p:nvSpPr>
        <p:spPr>
          <a:xfrm>
            <a:off x="952500" y="4057650"/>
            <a:ext cx="4381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Official default configurations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DeepSeek-V3 judge at temperature 0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DeBERTa-v3-large for NLI methods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Primary scores min-max normalized to [0, 1]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A1F8B5-902D-42A7-A924-CD8D42052228}"/>
              </a:ext>
            </a:extLst>
          </p:cNvPr>
          <p:cNvSpPr>
            <a:spLocks noGrp="1"/>
          </p:cNvSpPr>
          <p:nvPr/>
        </p:nvSpPr>
        <p:spPr>
          <a:xfrm>
            <a:off x="6115050" y="3390900"/>
            <a:ext cx="5295900" cy="21907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B47E1F-F3ED-44EA-A99D-9317C0B64B34}"/>
              </a:ext>
            </a:extLst>
          </p:cNvPr>
          <p:cNvSpPr>
            <a:spLocks noGrp="1"/>
          </p:cNvSpPr>
          <p:nvPr/>
        </p:nvSpPr>
        <p:spPr>
          <a:xfrm>
            <a:off x="6115050" y="3390900"/>
            <a:ext cx="76200" cy="2190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EF53CF-99B2-4617-8715-DC0093C3F800}"/>
              </a:ext>
            </a:extLst>
          </p:cNvPr>
          <p:cNvSpPr>
            <a:spLocks noGrp="1"/>
          </p:cNvSpPr>
          <p:nvPr/>
        </p:nvSpPr>
        <p:spPr>
          <a:xfrm>
            <a:off x="6362700" y="36576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Statistics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99F9A2-1A5E-46A1-AD08-58FB801EF038}"/>
              </a:ext>
            </a:extLst>
          </p:cNvPr>
          <p:cNvSpPr>
            <a:spLocks noGrp="1"/>
          </p:cNvSpPr>
          <p:nvPr/>
        </p:nvSpPr>
        <p:spPr>
          <a:xfrm>
            <a:off x="6362700" y="4057650"/>
            <a:ext cx="46863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Pearson and Spearman with 1,000 bootstrap resamples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Cochran's Q and I-squared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Ward clustering and domain effects</a:t>
            </a:r>
          </a:p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Cross-cluster consensus and human validation</a:t>
            </a:r>
          </a:p>
        </p:txBody>
      </p:sp>
    </p:spTree>
    <p:extLst>
      <p:ext uri="{BB962C8B-B14F-4D97-AF65-F5344CB8AC3E}">
        <p14:creationId xmlns:p14="http://schemas.microsoft.com/office/powerpoint/2010/main" val="882038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EB0ECB8-0DCB-47E6-8C8E-1F1694C749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FCA524-DD7A-4C76-8E02-8296E2BB86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09A70-ABF7-4657-B9E2-BA5D5E8A2A9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E9A260-09E0-4080-81BF-2E11B4E4EB5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1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B9BF3A-FCCF-4D2F-943E-BDB033568FAD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Inter-framework heterogeneity is substantial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3E889B-D628-4092-B78B-6E587B4573A2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27E0F-B140-4B6F-A9B5-EB5FD4200F1C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CD4EA2-C411-484E-A8BF-580626269D5A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2324100" cy="8763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C21B7E-6634-4E36-8E52-3CDDBB5175F0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10,055.63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9F9B95-40EF-42C4-87FE-084009336FCB}"/>
              </a:ext>
            </a:extLst>
          </p:cNvPr>
          <p:cNvSpPr>
            <a:spLocks noGrp="1"/>
          </p:cNvSpPr>
          <p:nvPr/>
        </p:nvSpPr>
        <p:spPr>
          <a:xfrm>
            <a:off x="819150" y="20764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COCHRAN'S Q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ABEE93-294B-48F4-99F4-3CA2217C84E0}"/>
              </a:ext>
            </a:extLst>
          </p:cNvPr>
          <p:cNvSpPr>
            <a:spLocks noGrp="1"/>
          </p:cNvSpPr>
          <p:nvPr/>
        </p:nvSpPr>
        <p:spPr>
          <a:xfrm>
            <a:off x="3276600" y="1524000"/>
            <a:ext cx="2000250" cy="8763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13611E-DD16-43FD-9199-FDC5B5519DF8}"/>
              </a:ext>
            </a:extLst>
          </p:cNvPr>
          <p:cNvSpPr>
            <a:spLocks noGrp="1"/>
          </p:cNvSpPr>
          <p:nvPr/>
        </p:nvSpPr>
        <p:spPr>
          <a:xfrm>
            <a:off x="3390900" y="1657350"/>
            <a:ext cx="177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rPr>
              <a:t>99.81%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703BD7-0A86-43DD-B954-01F356FC0B25}"/>
              </a:ext>
            </a:extLst>
          </p:cNvPr>
          <p:cNvSpPr>
            <a:spLocks noGrp="1"/>
          </p:cNvSpPr>
          <p:nvPr/>
        </p:nvSpPr>
        <p:spPr>
          <a:xfrm>
            <a:off x="3390900" y="2076450"/>
            <a:ext cx="1771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I-SQUARED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AE9654-8178-441D-AB8E-9A85ED3EA977}"/>
              </a:ext>
            </a:extLst>
          </p:cNvPr>
          <p:cNvSpPr>
            <a:spLocks noGrp="1"/>
          </p:cNvSpPr>
          <p:nvPr/>
        </p:nvSpPr>
        <p:spPr>
          <a:xfrm>
            <a:off x="5524500" y="1524000"/>
            <a:ext cx="2000250" cy="8763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EFB62A-4B57-4892-B15F-6C8E89FA9E98}"/>
              </a:ext>
            </a:extLst>
          </p:cNvPr>
          <p:cNvSpPr>
            <a:spLocks noGrp="1"/>
          </p:cNvSpPr>
          <p:nvPr/>
        </p:nvSpPr>
        <p:spPr>
          <a:xfrm>
            <a:off x="5638800" y="1657350"/>
            <a:ext cx="1771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167 / 190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5ECB9A-32A0-452E-B03B-2B7C3B79E6E9}"/>
              </a:ext>
            </a:extLst>
          </p:cNvPr>
          <p:cNvSpPr>
            <a:spLocks noGrp="1"/>
          </p:cNvSpPr>
          <p:nvPr/>
        </p:nvSpPr>
        <p:spPr>
          <a:xfrm>
            <a:off x="5638800" y="2076450"/>
            <a:ext cx="1771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PAIRS DIFFER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FDDBE7-B727-4337-A839-4981BCE618CF}"/>
              </a:ext>
            </a:extLst>
          </p:cNvPr>
          <p:cNvSpPr>
            <a:spLocks noGrp="1"/>
          </p:cNvSpPr>
          <p:nvPr/>
        </p:nvSpPr>
        <p:spPr>
          <a:xfrm>
            <a:off x="7772400" y="1524000"/>
            <a:ext cx="2190750" cy="8763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2FF5BD-CF87-48B1-9DD1-AC564C199FE5}"/>
              </a:ext>
            </a:extLst>
          </p:cNvPr>
          <p:cNvSpPr>
            <a:spLocks noGrp="1"/>
          </p:cNvSpPr>
          <p:nvPr/>
        </p:nvSpPr>
        <p:spPr>
          <a:xfrm>
            <a:off x="7886700" y="1657350"/>
            <a:ext cx="1962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056B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56B3"/>
                </a:solidFill>
                <a:latin typeface="Aptos Display"/>
                <a:ea typeface="Aptos Display"/>
                <a:cs typeface="Aptos Display"/>
              </a:rPr>
              <a:t>0.980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94E717-C08B-4604-839F-30FD067804AA}"/>
              </a:ext>
            </a:extLst>
          </p:cNvPr>
          <p:cNvSpPr>
            <a:spLocks noGrp="1"/>
          </p:cNvSpPr>
          <p:nvPr/>
        </p:nvSpPr>
        <p:spPr>
          <a:xfrm>
            <a:off x="7886700" y="207645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MEAN SCORE RANGE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1667" y="2724150"/>
            <a:ext cx="3493617" cy="26098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67400" y="3137833"/>
            <a:ext cx="4819650" cy="178248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E47D962-C421-40FD-9242-1BF573D9ABD8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4591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Forest plot from the paper appendix.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C14FAC-1FC5-4978-A8A3-337A5FCE2B8B}"/>
              </a:ext>
            </a:extLst>
          </p:cNvPr>
          <p:cNvSpPr>
            <a:spLocks noGrp="1"/>
          </p:cNvSpPr>
          <p:nvPr/>
        </p:nvSpPr>
        <p:spPr>
          <a:xfrm>
            <a:off x="5867400" y="5429250"/>
            <a:ext cx="481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Per-sample disagreement analysis from the paper appendix.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D0A06B-B38C-4233-993E-42FDCCB91B69}"/>
              </a:ext>
            </a:extLst>
          </p:cNvPr>
          <p:cNvSpPr>
            <a:spLocks noGrp="1"/>
          </p:cNvSpPr>
          <p:nvPr/>
        </p:nvSpPr>
        <p:spPr>
          <a:xfrm>
            <a:off x="742950" y="5848350"/>
            <a:ext cx="994410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B42555-7079-4B3B-A2F6-38F53FFD443E}"/>
              </a:ext>
            </a:extLst>
          </p:cNvPr>
          <p:cNvSpPr>
            <a:spLocks noGrp="1"/>
          </p:cNvSpPr>
          <p:nvPr/>
        </p:nvSpPr>
        <p:spPr>
          <a:xfrm>
            <a:off x="742950" y="584835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54C4C5-BE4D-4D93-BD1E-288367BA2CC8}"/>
              </a:ext>
            </a:extLst>
          </p:cNvPr>
          <p:cNvSpPr>
            <a:spLocks noGrp="1"/>
          </p:cNvSpPr>
          <p:nvPr/>
        </p:nvSpPr>
        <p:spPr>
          <a:xfrm>
            <a:off x="914400" y="59721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CD408D-7CFB-499F-94E5-755FD5F9AEE0}"/>
              </a:ext>
            </a:extLst>
          </p:cNvPr>
          <p:cNvSpPr>
            <a:spLocks noGrp="1"/>
          </p:cNvSpPr>
          <p:nvPr/>
        </p:nvSpPr>
        <p:spPr>
          <a:xfrm>
            <a:off x="2590800" y="5962650"/>
            <a:ext cx="7924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Framework choice materially changes the score observed on identical samples.</a:t>
            </a:r>
          </a:p>
        </p:txBody>
      </p:sp>
    </p:spTree>
    <p:extLst>
      <p:ext uri="{BB962C8B-B14F-4D97-AF65-F5344CB8AC3E}">
        <p14:creationId xmlns:p14="http://schemas.microsoft.com/office/powerpoint/2010/main" val="1013899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495A8B0-632A-4E17-BFA8-7CC25E95B1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D3858D-8F4C-4267-BDFA-A629E36E3E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5F0DC0-ABF1-43BF-A399-1DCE87D2268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055AB-1AF0-4CED-B7C3-9EF82A01FF5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2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DCB477-81BE-4F79-8372-AF9AB65E8D1E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Pairwise correlations range from -0.28 to 0.90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9D722C-86CD-434A-85ED-58C90D3E4BEB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6B080C-7C5C-457F-8DFB-86D565BD7AC3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508F97-B7EC-4ED3-B711-2107066F495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905250" cy="37719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F4386A-ABB0-416B-9968-A7506AC78DA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37719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4FA9B1-29F3-4251-B92E-390D299A4F51}"/>
              </a:ext>
            </a:extLst>
          </p:cNvPr>
          <p:cNvSpPr>
            <a:spLocks noGrp="1"/>
          </p:cNvSpPr>
          <p:nvPr/>
        </p:nvSpPr>
        <p:spPr>
          <a:xfrm>
            <a:off x="933450" y="2114550"/>
            <a:ext cx="33147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Minimum: BERTScore versus MetaRAG, r = -0.28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Maximum: TRACe versus ARES, r = 0.90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Median pairwise Pearson correlation is 0.21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The heatmap shows block structure, not one agreement pattern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83111" y="1619250"/>
            <a:ext cx="4531029" cy="4038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281EE7E-D41A-49F9-8CFD-ED35C1D3C62E}"/>
              </a:ext>
            </a:extLst>
          </p:cNvPr>
          <p:cNvSpPr>
            <a:spLocks noGrp="1"/>
          </p:cNvSpPr>
          <p:nvPr/>
        </p:nvSpPr>
        <p:spPr>
          <a:xfrm>
            <a:off x="5067300" y="5734050"/>
            <a:ext cx="596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Pairwise Pearson correlation across twenty frameworks.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88E6EB-D7E3-49B1-9648-A3C11EA2B9D7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34415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1F7FDB-C397-4DE3-90CF-1E4E57E76801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216418-A295-4B57-B021-CC7D2C420CFA}"/>
              </a:ext>
            </a:extLst>
          </p:cNvPr>
          <p:cNvSpPr>
            <a:spLocks noGrp="1"/>
          </p:cNvSpPr>
          <p:nvPr/>
        </p:nvSpPr>
        <p:spPr>
          <a:xfrm>
            <a:off x="857250" y="599122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00188B-3A94-4874-82E7-34DBCD08F6B6}"/>
              </a:ext>
            </a:extLst>
          </p:cNvPr>
          <p:cNvSpPr>
            <a:spLocks noGrp="1"/>
          </p:cNvSpPr>
          <p:nvPr/>
        </p:nvSpPr>
        <p:spPr>
          <a:xfrm>
            <a:off x="2533650" y="5981700"/>
            <a:ext cx="8324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High agreement is local to some pairs, not the full ecosystem.</a:t>
            </a:r>
          </a:p>
        </p:txBody>
      </p:sp>
    </p:spTree>
    <p:extLst>
      <p:ext uri="{BB962C8B-B14F-4D97-AF65-F5344CB8AC3E}">
        <p14:creationId xmlns:p14="http://schemas.microsoft.com/office/powerpoint/2010/main" val="1595989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1FAAB7-C348-4FC4-8381-5820689F9B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C759F9-B366-4D68-89D4-81A89EBD35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71DD77-4F1C-4B31-96BA-25652712D1EF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776E1E-524B-4B0D-A6C9-83C88D339E9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3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3DA4E-AC36-4323-9913-DA93FB4317A7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Binary agreement confirms the score pattern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67DA72-FFC1-46F8-BCDB-04DB77E76700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C60CA6-32E6-44A9-B4F2-CB1ED31B76D1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FACB80-AEFB-4557-9C48-0EC36F5E9E4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829050" cy="38290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48597D-AFAD-44C9-8134-EE2251BF4687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38290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EF2A80-68C3-4FAE-8E38-D6FD36C14677}"/>
              </a:ext>
            </a:extLst>
          </p:cNvPr>
          <p:cNvSpPr>
            <a:spLocks noGrp="1"/>
          </p:cNvSpPr>
          <p:nvPr/>
        </p:nvSpPr>
        <p:spPr>
          <a:xfrm>
            <a:off x="933450" y="2190750"/>
            <a:ext cx="31813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Scores are binarized at threshold 0.5.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ARES and UniEval reach kappa = 0.69 with 90% raw agreement.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RAGChecker or QAFactEval pairs with LLM-judge methods yield kappa at or below 0.001.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78325" y="1771650"/>
            <a:ext cx="4245350" cy="37528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ABD364F-D631-4574-91EB-E6787FA2D1AD}"/>
              </a:ext>
            </a:extLst>
          </p:cNvPr>
          <p:cNvSpPr>
            <a:spLocks noGrp="1"/>
          </p:cNvSpPr>
          <p:nvPr/>
        </p:nvSpPr>
        <p:spPr>
          <a:xfrm>
            <a:off x="5124450" y="5657850"/>
            <a:ext cx="5753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Pairwise Cohen's kappa from the paper appendix.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2AEC31-45D6-4799-B888-4B07D8947AEB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1019175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37459-C986-476F-B2A1-467C43D5BD25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F2797-2652-460A-9B6B-468E51DA7E5E}"/>
              </a:ext>
            </a:extLst>
          </p:cNvPr>
          <p:cNvSpPr>
            <a:spLocks noGrp="1"/>
          </p:cNvSpPr>
          <p:nvPr/>
        </p:nvSpPr>
        <p:spPr>
          <a:xfrm>
            <a:off x="857250" y="606742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9E4508-F52A-425A-8DE5-E3FB97796057}"/>
              </a:ext>
            </a:extLst>
          </p:cNvPr>
          <p:cNvSpPr>
            <a:spLocks noGrp="1"/>
          </p:cNvSpPr>
          <p:nvPr/>
        </p:nvSpPr>
        <p:spPr>
          <a:xfrm>
            <a:off x="2533650" y="6057900"/>
            <a:ext cx="81724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Disagreement remains after scores become faithful or unfaithful verdicts.</a:t>
            </a:r>
          </a:p>
        </p:txBody>
      </p:sp>
    </p:spTree>
    <p:extLst>
      <p:ext uri="{BB962C8B-B14F-4D97-AF65-F5344CB8AC3E}">
        <p14:creationId xmlns:p14="http://schemas.microsoft.com/office/powerpoint/2010/main" val="343456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85CF0E50-7201-412C-BB96-A76553AC3B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556FF-40DD-4F2D-957E-E527B7101C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3C4E08-E320-4A7A-B348-33FBBA07DB5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481AD8-1D9F-485B-9454-58202574E02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4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F0E264-A408-46E0-BC51-E01FF69E0DF2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The frameworks form three empirical clusters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C7D97-0F5C-403A-8F64-83BC2170C678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6EA600-389E-453F-B00A-4EA9EF946C63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6C101A-155B-4B73-A064-2AB261228CDE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5295900" cy="552450"/>
          </a:xfrm>
          <a:prstGeom prst="rect">
            <a:avLst/>
          </a:prstGeom>
          <a:solidFill>
            <a:srgbClr val="002147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EE771F-C2A0-4DD1-9F30-08CEACF1EDFC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BB4521-987D-45C1-B483-F90DB33B7CB2}"/>
              </a:ext>
            </a:extLst>
          </p:cNvPr>
          <p:cNvSpPr>
            <a:spLocks noGrp="1"/>
          </p:cNvSpPr>
          <p:nvPr/>
        </p:nvSpPr>
        <p:spPr>
          <a:xfrm>
            <a:off x="3752850" y="2038350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B64991-6056-42E5-B78D-E23E0D8C761A}"/>
              </a:ext>
            </a:extLst>
          </p:cNvPr>
          <p:cNvSpPr>
            <a:spLocks noGrp="1"/>
          </p:cNvSpPr>
          <p:nvPr/>
        </p:nvSpPr>
        <p:spPr>
          <a:xfrm>
            <a:off x="4648200" y="203835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Within 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822889-3DF1-47CC-B3E0-2FF1FFCC8D27}"/>
              </a:ext>
            </a:extLst>
          </p:cNvPr>
          <p:cNvSpPr>
            <a:spLocks noGrp="1"/>
          </p:cNvSpPr>
          <p:nvPr/>
        </p:nvSpPr>
        <p:spPr>
          <a:xfrm>
            <a:off x="704850" y="2476500"/>
            <a:ext cx="52959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C57208-B64E-4218-A400-F7A0896A73FD}"/>
              </a:ext>
            </a:extLst>
          </p:cNvPr>
          <p:cNvSpPr>
            <a:spLocks noGrp="1"/>
          </p:cNvSpPr>
          <p:nvPr/>
        </p:nvSpPr>
        <p:spPr>
          <a:xfrm>
            <a:off x="800100" y="25908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LLM-as-Judge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F71C8A-9ED4-4FC5-86CD-314987D82441}"/>
              </a:ext>
            </a:extLst>
          </p:cNvPr>
          <p:cNvSpPr>
            <a:spLocks noGrp="1"/>
          </p:cNvSpPr>
          <p:nvPr/>
        </p:nvSpPr>
        <p:spPr>
          <a:xfrm>
            <a:off x="3752850" y="2590800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4C44-E0CA-4ECA-8799-55843104072D}"/>
              </a:ext>
            </a:extLst>
          </p:cNvPr>
          <p:cNvSpPr>
            <a:spLocks noGrp="1"/>
          </p:cNvSpPr>
          <p:nvPr/>
        </p:nvSpPr>
        <p:spPr>
          <a:xfrm>
            <a:off x="4648200" y="259080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A39754-4740-431A-B1CE-7C438E3840BF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5295900" cy="5524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1B1932-DFCE-484A-A4C2-E8237078FFA7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Mixed Methods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8C663E-10D0-4A83-9446-AFC8C6F8B62E}"/>
              </a:ext>
            </a:extLst>
          </p:cNvPr>
          <p:cNvSpPr>
            <a:spLocks noGrp="1"/>
          </p:cNvSpPr>
          <p:nvPr/>
        </p:nvSpPr>
        <p:spPr>
          <a:xfrm>
            <a:off x="3752850" y="3143250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83C76A-2BBA-4D6F-8A06-B50F092A390E}"/>
              </a:ext>
            </a:extLst>
          </p:cNvPr>
          <p:cNvSpPr>
            <a:spLocks noGrp="1"/>
          </p:cNvSpPr>
          <p:nvPr/>
        </p:nvSpPr>
        <p:spPr>
          <a:xfrm>
            <a:off x="4648200" y="314325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0.63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60CE82-C94E-46A0-B1DB-42A7DB4061F8}"/>
              </a:ext>
            </a:extLst>
          </p:cNvPr>
          <p:cNvSpPr>
            <a:spLocks noGrp="1"/>
          </p:cNvSpPr>
          <p:nvPr/>
        </p:nvSpPr>
        <p:spPr>
          <a:xfrm>
            <a:off x="704850" y="3581400"/>
            <a:ext cx="52959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EB85A9-FB85-4A05-B62B-495B85CB46EA}"/>
              </a:ext>
            </a:extLst>
          </p:cNvPr>
          <p:cNvSpPr>
            <a:spLocks noGrp="1"/>
          </p:cNvSpPr>
          <p:nvPr/>
        </p:nvSpPr>
        <p:spPr>
          <a:xfrm>
            <a:off x="800100" y="369570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Outlier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0481A1-C234-4A2B-9447-E59F087845AF}"/>
              </a:ext>
            </a:extLst>
          </p:cNvPr>
          <p:cNvSpPr>
            <a:spLocks noGrp="1"/>
          </p:cNvSpPr>
          <p:nvPr/>
        </p:nvSpPr>
        <p:spPr>
          <a:xfrm>
            <a:off x="3752850" y="3695700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9DB71A-E544-47DC-BD93-6DA9F096D1A9}"/>
              </a:ext>
            </a:extLst>
          </p:cNvPr>
          <p:cNvSpPr>
            <a:spLocks noGrp="1"/>
          </p:cNvSpPr>
          <p:nvPr/>
        </p:nvSpPr>
        <p:spPr>
          <a:xfrm>
            <a:off x="4648200" y="369570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0.01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95B5CB-0B51-4713-85DC-F75FD41D5FD2}"/>
              </a:ext>
            </a:extLst>
          </p:cNvPr>
          <p:cNvSpPr>
            <a:spLocks noGrp="1"/>
          </p:cNvSpPr>
          <p:nvPr/>
        </p:nvSpPr>
        <p:spPr>
          <a:xfrm>
            <a:off x="704850" y="4133850"/>
            <a:ext cx="5295900" cy="5524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EAD918-AAE5-48DA-9383-C1827E36F894}"/>
              </a:ext>
            </a:extLst>
          </p:cNvPr>
          <p:cNvSpPr>
            <a:spLocks noGrp="1"/>
          </p:cNvSpPr>
          <p:nvPr/>
        </p:nvSpPr>
        <p:spPr>
          <a:xfrm>
            <a:off x="800100" y="4248150"/>
            <a:ext cx="276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Between clusters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4E2CEB-FB31-471F-B8D9-DA6C7505B95F}"/>
              </a:ext>
            </a:extLst>
          </p:cNvPr>
          <p:cNvSpPr>
            <a:spLocks noGrp="1"/>
          </p:cNvSpPr>
          <p:nvPr/>
        </p:nvSpPr>
        <p:spPr>
          <a:xfrm>
            <a:off x="3752850" y="4248150"/>
            <a:ext cx="704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110C85-826D-4215-ADE2-636442E95C43}"/>
              </a:ext>
            </a:extLst>
          </p:cNvPr>
          <p:cNvSpPr>
            <a:spLocks noGrp="1"/>
          </p:cNvSpPr>
          <p:nvPr/>
        </p:nvSpPr>
        <p:spPr>
          <a:xfrm>
            <a:off x="4648200" y="424815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0.10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D4EFFD-5912-442B-B622-BDE6297FC08D}"/>
              </a:ext>
            </a:extLst>
          </p:cNvPr>
          <p:cNvSpPr>
            <a:spLocks noGrp="1"/>
          </p:cNvSpPr>
          <p:nvPr/>
        </p:nvSpPr>
        <p:spPr>
          <a:xfrm>
            <a:off x="6667500" y="1847850"/>
            <a:ext cx="4076700" cy="10858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2852C4-D6C4-4C29-B050-F1DFF37091D8}"/>
              </a:ext>
            </a:extLst>
          </p:cNvPr>
          <p:cNvSpPr>
            <a:spLocks noGrp="1"/>
          </p:cNvSpPr>
          <p:nvPr/>
        </p:nvSpPr>
        <p:spPr>
          <a:xfrm>
            <a:off x="6667500" y="1847850"/>
            <a:ext cx="4076700" cy="571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9DFCF4-E59B-4749-8C24-051834DEDAD1}"/>
              </a:ext>
            </a:extLst>
          </p:cNvPr>
          <p:cNvSpPr>
            <a:spLocks noGrp="1"/>
          </p:cNvSpPr>
          <p:nvPr/>
        </p:nvSpPr>
        <p:spPr>
          <a:xfrm>
            <a:off x="6838950" y="2019300"/>
            <a:ext cx="3733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Normalization check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9203D1-FCA2-41AA-AE25-EC4769879527}"/>
              </a:ext>
            </a:extLst>
          </p:cNvPr>
          <p:cNvSpPr>
            <a:spLocks noGrp="1"/>
          </p:cNvSpPr>
          <p:nvPr/>
        </p:nvSpPr>
        <p:spPr>
          <a:xfrm>
            <a:off x="6838950" y="2324100"/>
            <a:ext cx="3733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Raw, min-max, z-score, and rank transformations return identical cluster assignments. Pairwise ARI is 1.0.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B6E640-8889-46AA-BE94-B61D44375495}"/>
              </a:ext>
            </a:extLst>
          </p:cNvPr>
          <p:cNvSpPr>
            <a:spLocks noGrp="1"/>
          </p:cNvSpPr>
          <p:nvPr/>
        </p:nvSpPr>
        <p:spPr>
          <a:xfrm>
            <a:off x="6667500" y="3124200"/>
            <a:ext cx="4076700" cy="12382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F43D0D-8ECF-407C-9389-E58A5DA343C6}"/>
              </a:ext>
            </a:extLst>
          </p:cNvPr>
          <p:cNvSpPr>
            <a:spLocks noGrp="1"/>
          </p:cNvSpPr>
          <p:nvPr/>
        </p:nvSpPr>
        <p:spPr>
          <a:xfrm>
            <a:off x="6667500" y="3124200"/>
            <a:ext cx="4076700" cy="571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28AF9A-BCAE-4692-BD5D-6D6F79801E5C}"/>
              </a:ext>
            </a:extLst>
          </p:cNvPr>
          <p:cNvSpPr>
            <a:spLocks noGrp="1"/>
          </p:cNvSpPr>
          <p:nvPr/>
        </p:nvSpPr>
        <p:spPr>
          <a:xfrm>
            <a:off x="6838950" y="3295650"/>
            <a:ext cx="3733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Cluster count check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AF6FCE6-5738-4E5D-A297-63E7B9D8BD9B}"/>
              </a:ext>
            </a:extLst>
          </p:cNvPr>
          <p:cNvSpPr>
            <a:spLocks noGrp="1"/>
          </p:cNvSpPr>
          <p:nvPr/>
        </p:nvSpPr>
        <p:spPr>
          <a:xfrm>
            <a:off x="6838950" y="3600450"/>
            <a:ext cx="3733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The gap statistic peaks at k = 3. Bootstrap co-assignment is at least 0.75 in the LLM-as-judge and mixed-methods clusters.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0664C5-D4A3-4D22-A191-07C1BF4D9EF8}"/>
              </a:ext>
            </a:extLst>
          </p:cNvPr>
          <p:cNvSpPr>
            <a:spLocks noGrp="1"/>
          </p:cNvSpPr>
          <p:nvPr/>
        </p:nvSpPr>
        <p:spPr>
          <a:xfrm>
            <a:off x="6667500" y="4552950"/>
            <a:ext cx="4076700" cy="10287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F7BA485-2DB4-4C08-BCFD-57FAE4C512EF}"/>
              </a:ext>
            </a:extLst>
          </p:cNvPr>
          <p:cNvSpPr>
            <a:spLocks noGrp="1"/>
          </p:cNvSpPr>
          <p:nvPr/>
        </p:nvSpPr>
        <p:spPr>
          <a:xfrm>
            <a:off x="6667500" y="4552950"/>
            <a:ext cx="4076700" cy="571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5C0A20-FDAF-4B2D-8D37-8AA67602427A}"/>
              </a:ext>
            </a:extLst>
          </p:cNvPr>
          <p:cNvSpPr>
            <a:spLocks noGrp="1"/>
          </p:cNvSpPr>
          <p:nvPr/>
        </p:nvSpPr>
        <p:spPr>
          <a:xfrm>
            <a:off x="6838950" y="4724400"/>
            <a:ext cx="3733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Outlier group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6A5710-FAA1-4D67-BB09-10894C1B96F3}"/>
              </a:ext>
            </a:extLst>
          </p:cNvPr>
          <p:cNvSpPr>
            <a:spLocks noGrp="1"/>
          </p:cNvSpPr>
          <p:nvPr/>
        </p:nvSpPr>
        <p:spPr>
          <a:xfrm>
            <a:off x="6838950" y="5029200"/>
            <a:ext cx="3733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BERTScore, GaRAGe, HALT-RAG, QAFactEval, and RAGChecker.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4C8967-609C-4F44-B815-63DF8EA63425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1003935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2FE191A-DDD6-41AB-A9AF-FE033B864F43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CB7A0C-6FFA-4EED-8421-A4FBBA97B9F8}"/>
              </a:ext>
            </a:extLst>
          </p:cNvPr>
          <p:cNvSpPr>
            <a:spLocks noGrp="1"/>
          </p:cNvSpPr>
          <p:nvPr/>
        </p:nvSpPr>
        <p:spPr>
          <a:xfrm>
            <a:off x="876300" y="60102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CBBF913-F933-46E9-B6BF-A46143BA07C4}"/>
              </a:ext>
            </a:extLst>
          </p:cNvPr>
          <p:cNvSpPr>
            <a:spLocks noGrp="1"/>
          </p:cNvSpPr>
          <p:nvPr/>
        </p:nvSpPr>
        <p:spPr>
          <a:xfrm>
            <a:off x="2552700" y="6000750"/>
            <a:ext cx="8020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The paper reports a stable three-cluster pattern across score transformations.</a:t>
            </a:r>
          </a:p>
        </p:txBody>
      </p:sp>
    </p:spTree>
    <p:extLst>
      <p:ext uri="{BB962C8B-B14F-4D97-AF65-F5344CB8AC3E}">
        <p14:creationId xmlns:p14="http://schemas.microsoft.com/office/powerpoint/2010/main" val="1929966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118C46-730E-471E-9128-CEAD05A95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74B173-9CCA-42B2-BDB0-701E0BC7DF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CBC747-412B-45B3-84CB-221D877AF62E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868A3C-C3DF-4C0A-81F8-ECCECF3C3E6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5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1B76A-4A1A-4489-A04B-7C0F3F72CDDB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Domain difficulty depends on the method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2B32B5-BC7E-4F62-B910-B5A8A8955C70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2DA01-FD93-4219-9925-AA9D5AB7738B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9DF5A-420E-457C-BD44-B0F443D06C84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986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Largest reported eta-squared effects: KG-RAG 0.225, MetaRAG 0.222, TRACe 0.198, ARES 0.190.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432916"/>
            <a:ext cx="4933950" cy="244936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57900" y="2649945"/>
            <a:ext cx="4743450" cy="20153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8615AC-F9F0-49A0-9ABB-66C423F89BAE}"/>
              </a:ext>
            </a:extLst>
          </p:cNvPr>
          <p:cNvSpPr>
            <a:spLocks noGrp="1"/>
          </p:cNvSpPr>
          <p:nvPr/>
        </p:nvSpPr>
        <p:spPr>
          <a:xfrm>
            <a:off x="723900" y="5295900"/>
            <a:ext cx="493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Mean score by domain.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68113B-7F3D-402F-B5E3-513BA2211795}"/>
              </a:ext>
            </a:extLst>
          </p:cNvPr>
          <p:cNvSpPr>
            <a:spLocks noGrp="1"/>
          </p:cNvSpPr>
          <p:nvPr/>
        </p:nvSpPr>
        <p:spPr>
          <a:xfrm>
            <a:off x="6057900" y="5295900"/>
            <a:ext cx="474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Representative domain score distributions.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6FE11B-C075-4B49-A0A8-A933C74AFEBB}"/>
              </a:ext>
            </a:extLst>
          </p:cNvPr>
          <p:cNvSpPr>
            <a:spLocks noGrp="1"/>
          </p:cNvSpPr>
          <p:nvPr/>
        </p:nvSpPr>
        <p:spPr>
          <a:xfrm>
            <a:off x="723900" y="5848350"/>
            <a:ext cx="1007745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A57304-03F9-4D44-9698-978A19BB5D2E}"/>
              </a:ext>
            </a:extLst>
          </p:cNvPr>
          <p:cNvSpPr>
            <a:spLocks noGrp="1"/>
          </p:cNvSpPr>
          <p:nvPr/>
        </p:nvSpPr>
        <p:spPr>
          <a:xfrm>
            <a:off x="723900" y="584835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527C04-126B-4295-9F56-6F21F5A329D1}"/>
              </a:ext>
            </a:extLst>
          </p:cNvPr>
          <p:cNvSpPr>
            <a:spLocks noGrp="1"/>
          </p:cNvSpPr>
          <p:nvPr/>
        </p:nvSpPr>
        <p:spPr>
          <a:xfrm>
            <a:off x="895350" y="59721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6F53C-A340-4694-BCB0-84E844409FAA}"/>
              </a:ext>
            </a:extLst>
          </p:cNvPr>
          <p:cNvSpPr>
            <a:spLocks noGrp="1"/>
          </p:cNvSpPr>
          <p:nvPr/>
        </p:nvSpPr>
        <p:spPr>
          <a:xfrm>
            <a:off x="2571750" y="5962650"/>
            <a:ext cx="8058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Finance scores lower for most frameworks, while domain effect size depends on the framework.</a:t>
            </a:r>
          </a:p>
        </p:txBody>
      </p:sp>
    </p:spTree>
    <p:extLst>
      <p:ext uri="{BB962C8B-B14F-4D97-AF65-F5344CB8AC3E}">
        <p14:creationId xmlns:p14="http://schemas.microsoft.com/office/powerpoint/2010/main" val="19550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3D1AACB-B4E3-4B51-AADB-981BCCBA3C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86EC36-44E5-48F4-AB7E-1AB58C73FD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DEF64F-8984-4017-A6BE-9AAA907507D5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B612AE-9521-419B-9B2B-A4365175B99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6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6354B3-ED17-4B7F-9AC4-FBA7F806054D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The human subset favors the LLM-as-judge cluster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73FB4-133A-4B73-9E36-E11EA4F39AC4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BBA12C-2FC8-4CF8-BB5C-C24DCE590A62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7DB9EE-0B2C-4127-A6E4-40F9F29AE19F}"/>
              </a:ext>
            </a:extLst>
          </p:cNvPr>
          <p:cNvSpPr>
            <a:spLocks noGrp="1"/>
          </p:cNvSpPr>
          <p:nvPr/>
        </p:nvSpPr>
        <p:spPr>
          <a:xfrm>
            <a:off x="704850" y="1828800"/>
            <a:ext cx="4400550" cy="3143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CE14D-0B05-4EDD-B728-F22B6101A273}"/>
              </a:ext>
            </a:extLst>
          </p:cNvPr>
          <p:cNvSpPr>
            <a:spLocks noGrp="1"/>
          </p:cNvSpPr>
          <p:nvPr/>
        </p:nvSpPr>
        <p:spPr>
          <a:xfrm>
            <a:off x="704850" y="1828800"/>
            <a:ext cx="76200" cy="31432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786C08-B2F5-4C96-8B96-7EB7277EFDF6}"/>
              </a:ext>
            </a:extLst>
          </p:cNvPr>
          <p:cNvSpPr>
            <a:spLocks noGrp="1"/>
          </p:cNvSpPr>
          <p:nvPr/>
        </p:nvSpPr>
        <p:spPr>
          <a:xfrm>
            <a:off x="971550" y="2247900"/>
            <a:ext cx="37338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LLM-as-Judge cluster mean r = 0.51.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FaithJudge r = 0.596 and G-Eval r = 0.564.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Mixed Methods cluster mean r = 0.19.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Outlier cluster mean r = 0.05.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099EA7-C1AE-48D1-AE74-E03001CF881B}"/>
              </a:ext>
            </a:extLst>
          </p:cNvPr>
          <p:cNvSpPr>
            <a:spLocks noGrp="1"/>
          </p:cNvSpPr>
          <p:nvPr/>
        </p:nvSpPr>
        <p:spPr>
          <a:xfrm>
            <a:off x="5867400" y="2038350"/>
            <a:ext cx="5962650" cy="590550"/>
          </a:xfrm>
          <a:prstGeom prst="rect">
            <a:avLst/>
          </a:prstGeom>
          <a:solidFill>
            <a:srgbClr val="002147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797819-D6FC-4326-87E7-1774F64EE36F}"/>
              </a:ext>
            </a:extLst>
          </p:cNvPr>
          <p:cNvSpPr>
            <a:spLocks noGrp="1"/>
          </p:cNvSpPr>
          <p:nvPr/>
        </p:nvSpPr>
        <p:spPr>
          <a:xfrm>
            <a:off x="5962650" y="21526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4BF526-3EEA-4EA2-8453-1251168DA580}"/>
              </a:ext>
            </a:extLst>
          </p:cNvPr>
          <p:cNvSpPr>
            <a:spLocks noGrp="1"/>
          </p:cNvSpPr>
          <p:nvPr/>
        </p:nvSpPr>
        <p:spPr>
          <a:xfrm>
            <a:off x="8058150" y="2152650"/>
            <a:ext cx="933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Mean 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B45FA9-2C5E-4977-BA83-575C8420F759}"/>
              </a:ext>
            </a:extLst>
          </p:cNvPr>
          <p:cNvSpPr>
            <a:spLocks noGrp="1"/>
          </p:cNvSpPr>
          <p:nvPr/>
        </p:nvSpPr>
        <p:spPr>
          <a:xfrm>
            <a:off x="9182100" y="2152650"/>
            <a:ext cx="2552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Highest reported 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50ACBB-8AD3-46B3-BF21-01EDB71552D1}"/>
              </a:ext>
            </a:extLst>
          </p:cNvPr>
          <p:cNvSpPr>
            <a:spLocks noGrp="1"/>
          </p:cNvSpPr>
          <p:nvPr/>
        </p:nvSpPr>
        <p:spPr>
          <a:xfrm>
            <a:off x="5867400" y="2628900"/>
            <a:ext cx="59626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35B6CF-ED25-42FC-A5A1-C1733C3A6A30}"/>
              </a:ext>
            </a:extLst>
          </p:cNvPr>
          <p:cNvSpPr>
            <a:spLocks noGrp="1"/>
          </p:cNvSpPr>
          <p:nvPr/>
        </p:nvSpPr>
        <p:spPr>
          <a:xfrm>
            <a:off x="5962650" y="274320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LLM-as-Judge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CB7C93-D46F-4DF4-A266-9D4E72F4CE43}"/>
              </a:ext>
            </a:extLst>
          </p:cNvPr>
          <p:cNvSpPr>
            <a:spLocks noGrp="1"/>
          </p:cNvSpPr>
          <p:nvPr/>
        </p:nvSpPr>
        <p:spPr>
          <a:xfrm>
            <a:off x="8058150" y="2743200"/>
            <a:ext cx="933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0.51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D32F74-C695-4968-AB37-D644CB4DEC0C}"/>
              </a:ext>
            </a:extLst>
          </p:cNvPr>
          <p:cNvSpPr>
            <a:spLocks noGrp="1"/>
          </p:cNvSpPr>
          <p:nvPr/>
        </p:nvSpPr>
        <p:spPr>
          <a:xfrm>
            <a:off x="9182100" y="2743200"/>
            <a:ext cx="2552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FaithJudge 0.596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5425DB-3D4E-4D22-AA5F-2CED43D2CC36}"/>
              </a:ext>
            </a:extLst>
          </p:cNvPr>
          <p:cNvSpPr>
            <a:spLocks noGrp="1"/>
          </p:cNvSpPr>
          <p:nvPr/>
        </p:nvSpPr>
        <p:spPr>
          <a:xfrm>
            <a:off x="5867400" y="3219450"/>
            <a:ext cx="5962650" cy="5905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320D3B-898A-4290-87C8-14163B18B44E}"/>
              </a:ext>
            </a:extLst>
          </p:cNvPr>
          <p:cNvSpPr>
            <a:spLocks noGrp="1"/>
          </p:cNvSpPr>
          <p:nvPr/>
        </p:nvSpPr>
        <p:spPr>
          <a:xfrm>
            <a:off x="5962650" y="33337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Mixed Methods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17582B-682C-40DA-BDE1-ADD4E418E958}"/>
              </a:ext>
            </a:extLst>
          </p:cNvPr>
          <p:cNvSpPr>
            <a:spLocks noGrp="1"/>
          </p:cNvSpPr>
          <p:nvPr/>
        </p:nvSpPr>
        <p:spPr>
          <a:xfrm>
            <a:off x="8058150" y="3333750"/>
            <a:ext cx="933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0.19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B4F260-FB1A-489D-AFE9-FE8FF8E619E7}"/>
              </a:ext>
            </a:extLst>
          </p:cNvPr>
          <p:cNvSpPr>
            <a:spLocks noGrp="1"/>
          </p:cNvSpPr>
          <p:nvPr/>
        </p:nvSpPr>
        <p:spPr>
          <a:xfrm>
            <a:off x="9182100" y="3333750"/>
            <a:ext cx="2552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SIRG 0.361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74E2C6-D659-40E0-87B6-3A8AB874A9C3}"/>
              </a:ext>
            </a:extLst>
          </p:cNvPr>
          <p:cNvSpPr>
            <a:spLocks noGrp="1"/>
          </p:cNvSpPr>
          <p:nvPr/>
        </p:nvSpPr>
        <p:spPr>
          <a:xfrm>
            <a:off x="5867400" y="3810000"/>
            <a:ext cx="59626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DE82ED-29C4-476D-9586-AFC0E7D4CA90}"/>
              </a:ext>
            </a:extLst>
          </p:cNvPr>
          <p:cNvSpPr>
            <a:spLocks noGrp="1"/>
          </p:cNvSpPr>
          <p:nvPr/>
        </p:nvSpPr>
        <p:spPr>
          <a:xfrm>
            <a:off x="5962650" y="392430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Outlier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AF1035-348C-454F-AD57-5F1076A5A95D}"/>
              </a:ext>
            </a:extLst>
          </p:cNvPr>
          <p:cNvSpPr>
            <a:spLocks noGrp="1"/>
          </p:cNvSpPr>
          <p:nvPr/>
        </p:nvSpPr>
        <p:spPr>
          <a:xfrm>
            <a:off x="8058150" y="3924300"/>
            <a:ext cx="933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0.05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E7FA1D-B478-493C-945B-DF9817541FF7}"/>
              </a:ext>
            </a:extLst>
          </p:cNvPr>
          <p:cNvSpPr>
            <a:spLocks noGrp="1"/>
          </p:cNvSpPr>
          <p:nvPr/>
        </p:nvSpPr>
        <p:spPr>
          <a:xfrm>
            <a:off x="9182100" y="3924300"/>
            <a:ext cx="2552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RAGChecker 0.243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9D3A2E-4607-4452-B422-E5BD5577BD98}"/>
              </a:ext>
            </a:extLst>
          </p:cNvPr>
          <p:cNvSpPr>
            <a:spLocks noGrp="1"/>
          </p:cNvSpPr>
          <p:nvPr/>
        </p:nvSpPr>
        <p:spPr>
          <a:xfrm>
            <a:off x="5867400" y="4724400"/>
            <a:ext cx="5962650" cy="83820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BAD47A-67E0-45AB-8253-4D20ED60EFC1}"/>
              </a:ext>
            </a:extLst>
          </p:cNvPr>
          <p:cNvSpPr>
            <a:spLocks noGrp="1"/>
          </p:cNvSpPr>
          <p:nvPr/>
        </p:nvSpPr>
        <p:spPr>
          <a:xfrm>
            <a:off x="5867400" y="4724400"/>
            <a:ext cx="5962650" cy="571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5D5466-1464-4C29-9A18-C389535035EF}"/>
              </a:ext>
            </a:extLst>
          </p:cNvPr>
          <p:cNvSpPr>
            <a:spLocks noGrp="1"/>
          </p:cNvSpPr>
          <p:nvPr/>
        </p:nvSpPr>
        <p:spPr>
          <a:xfrm>
            <a:off x="6038850" y="4895850"/>
            <a:ext cx="561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Human validation subset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4605C7-52FD-4782-899A-E5E5E941AD78}"/>
              </a:ext>
            </a:extLst>
          </p:cNvPr>
          <p:cNvSpPr>
            <a:spLocks noGrp="1"/>
          </p:cNvSpPr>
          <p:nvPr/>
        </p:nvSpPr>
        <p:spPr>
          <a:xfrm>
            <a:off x="6038850" y="5200650"/>
            <a:ext cx="561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Pearson correlations use binary human annotations for n = 50 RAGBench samples.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BE95FC-6090-4ABC-A68D-D09FE836EF6D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1112520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6B92CB-73B0-4EF6-85EB-B5B5C44CF353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949C8D-F517-442A-B319-B32F13015F44}"/>
              </a:ext>
            </a:extLst>
          </p:cNvPr>
          <p:cNvSpPr>
            <a:spLocks noGrp="1"/>
          </p:cNvSpPr>
          <p:nvPr/>
        </p:nvSpPr>
        <p:spPr>
          <a:xfrm>
            <a:off x="876300" y="60102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A88D36-5F49-427F-B440-D41F5C75A844}"/>
              </a:ext>
            </a:extLst>
          </p:cNvPr>
          <p:cNvSpPr>
            <a:spLocks noGrp="1"/>
          </p:cNvSpPr>
          <p:nvPr/>
        </p:nvSpPr>
        <p:spPr>
          <a:xfrm>
            <a:off x="2552700" y="6000750"/>
            <a:ext cx="9105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The paper treats this human-alignment result as directional evidence.</a:t>
            </a:r>
          </a:p>
        </p:txBody>
      </p:sp>
    </p:spTree>
    <p:extLst>
      <p:ext uri="{BB962C8B-B14F-4D97-AF65-F5344CB8AC3E}">
        <p14:creationId xmlns:p14="http://schemas.microsoft.com/office/powerpoint/2010/main" val="487122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3555A98-56BF-4547-A43D-49651EF489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00D594-825D-4DB4-9392-A23EB9B970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7A84AC-D103-4713-890D-C797F10C98C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B42DF4-E743-44FD-BF77-2B2938B4784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7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0E0EB8-71F2-4334-9EC3-F1F3C83E9145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Cross-cluster consensus is usually contested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3E00CA-FC41-44F8-AAAA-BE93B24F6E65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9D000F-1D2B-4ABC-9893-F3B179E1B262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F95D43-A07A-49B9-A13F-8D5534280F00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Representatives: LRP4RAG, FaithJudge, and QAFactEval.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2B6632-0F82-4B19-801B-DCB051C4281E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A verdict requires all three representatives to agree at threshold 0.5.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886B53-5FFF-4E7E-977B-9F5CBD959C4C}"/>
              </a:ext>
            </a:extLst>
          </p:cNvPr>
          <p:cNvSpPr>
            <a:spLocks noGrp="1"/>
          </p:cNvSpPr>
          <p:nvPr/>
        </p:nvSpPr>
        <p:spPr>
          <a:xfrm>
            <a:off x="723900" y="2743200"/>
            <a:ext cx="4953000" cy="1962150"/>
          </a:xfrm>
          <a:prstGeom prst="rect">
            <a:avLst/>
          </a:prstGeom>
          <a:solidFill>
            <a:srgbClr val="FDEAED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3114D-82A5-4B47-88E6-2A400C1D979F}"/>
              </a:ext>
            </a:extLst>
          </p:cNvPr>
          <p:cNvSpPr>
            <a:spLocks noGrp="1"/>
          </p:cNvSpPr>
          <p:nvPr/>
        </p:nvSpPr>
        <p:spPr>
          <a:xfrm>
            <a:off x="933450" y="3181350"/>
            <a:ext cx="4533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4002B"/>
                </a:solidFill>
                <a:latin typeface="Aptos Display"/>
                <a:ea typeface="Aptos Display"/>
                <a:cs typeface="Aptos Display"/>
              </a:rPr>
              <a:t>92.5%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A751F8-E825-4F68-A6CB-BE0182FF749F}"/>
              </a:ext>
            </a:extLst>
          </p:cNvPr>
          <p:cNvSpPr>
            <a:spLocks noGrp="1"/>
          </p:cNvSpPr>
          <p:nvPr/>
        </p:nvSpPr>
        <p:spPr>
          <a:xfrm>
            <a:off x="933450" y="3771900"/>
            <a:ext cx="4533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Contested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90F6FF-78BE-4355-AFAB-6DBEA92EA4A4}"/>
              </a:ext>
            </a:extLst>
          </p:cNvPr>
          <p:cNvSpPr>
            <a:spLocks noGrp="1"/>
          </p:cNvSpPr>
          <p:nvPr/>
        </p:nvSpPr>
        <p:spPr>
          <a:xfrm>
            <a:off x="933450" y="4171950"/>
            <a:ext cx="453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185 of 200 samples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F6728F-EDF1-422B-83B6-F049EB1E8FAC}"/>
              </a:ext>
            </a:extLst>
          </p:cNvPr>
          <p:cNvSpPr>
            <a:spLocks noGrp="1"/>
          </p:cNvSpPr>
          <p:nvPr/>
        </p:nvSpPr>
        <p:spPr>
          <a:xfrm>
            <a:off x="5848350" y="2743200"/>
            <a:ext cx="2514600" cy="19621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F67E05-5339-4ADA-AA0B-E443750FDE7A}"/>
              </a:ext>
            </a:extLst>
          </p:cNvPr>
          <p:cNvSpPr>
            <a:spLocks noGrp="1"/>
          </p:cNvSpPr>
          <p:nvPr/>
        </p:nvSpPr>
        <p:spPr>
          <a:xfrm>
            <a:off x="6057900" y="3181350"/>
            <a:ext cx="2095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6.0%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8A3B41-A01C-4001-8677-AB7C58AF08E9}"/>
              </a:ext>
            </a:extLst>
          </p:cNvPr>
          <p:cNvSpPr>
            <a:spLocks noGrp="1"/>
          </p:cNvSpPr>
          <p:nvPr/>
        </p:nvSpPr>
        <p:spPr>
          <a:xfrm>
            <a:off x="6057900" y="37719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Faithful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4E99AF-417F-49FA-A9FC-04CF02FC7A4A}"/>
              </a:ext>
            </a:extLst>
          </p:cNvPr>
          <p:cNvSpPr>
            <a:spLocks noGrp="1"/>
          </p:cNvSpPr>
          <p:nvPr/>
        </p:nvSpPr>
        <p:spPr>
          <a:xfrm>
            <a:off x="6057900" y="41719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12 samples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7CFBC2-910E-40B4-99F9-3CB8AD31E598}"/>
              </a:ext>
            </a:extLst>
          </p:cNvPr>
          <p:cNvSpPr>
            <a:spLocks noGrp="1"/>
          </p:cNvSpPr>
          <p:nvPr/>
        </p:nvSpPr>
        <p:spPr>
          <a:xfrm>
            <a:off x="8534400" y="2743200"/>
            <a:ext cx="2514600" cy="19621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2BF9F9-8733-45B5-9EE5-47E0F8EC9AB1}"/>
              </a:ext>
            </a:extLst>
          </p:cNvPr>
          <p:cNvSpPr>
            <a:spLocks noGrp="1"/>
          </p:cNvSpPr>
          <p:nvPr/>
        </p:nvSpPr>
        <p:spPr>
          <a:xfrm>
            <a:off x="8743950" y="3181350"/>
            <a:ext cx="2095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0056B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056B3"/>
                </a:solidFill>
                <a:latin typeface="Aptos Display"/>
                <a:ea typeface="Aptos Display"/>
                <a:cs typeface="Aptos Display"/>
              </a:rPr>
              <a:t>1.5%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3F185B-2A99-4602-906F-F33DBE8FF52B}"/>
              </a:ext>
            </a:extLst>
          </p:cNvPr>
          <p:cNvSpPr>
            <a:spLocks noGrp="1"/>
          </p:cNvSpPr>
          <p:nvPr/>
        </p:nvSpPr>
        <p:spPr>
          <a:xfrm>
            <a:off x="8743950" y="37719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Unfaithful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F961C5-5A94-4EC4-8AF8-2A5403CE660A}"/>
              </a:ext>
            </a:extLst>
          </p:cNvPr>
          <p:cNvSpPr>
            <a:spLocks noGrp="1"/>
          </p:cNvSpPr>
          <p:nvPr/>
        </p:nvSpPr>
        <p:spPr>
          <a:xfrm>
            <a:off x="8743950" y="41719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733"/>
                </a:solidFill>
                <a:latin typeface="Aptos"/>
                <a:ea typeface="Aptos"/>
                <a:cs typeface="Aptos"/>
              </a:rPr>
              <a:t>3 samples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A122BF-8A66-410C-8A8D-37EF734F77B5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32510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DCAF5-ABDF-4F34-8055-7C766CF10BEB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5F777F-C3B3-4D3A-BA16-7D056D53403A}"/>
              </a:ext>
            </a:extLst>
          </p:cNvPr>
          <p:cNvSpPr>
            <a:spLocks noGrp="1"/>
          </p:cNvSpPr>
          <p:nvPr/>
        </p:nvSpPr>
        <p:spPr>
          <a:xfrm>
            <a:off x="895350" y="595312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C56D2C-0815-4738-9DB8-94852E635E85}"/>
              </a:ext>
            </a:extLst>
          </p:cNvPr>
          <p:cNvSpPr>
            <a:spLocks noGrp="1"/>
          </p:cNvSpPr>
          <p:nvPr/>
        </p:nvSpPr>
        <p:spPr>
          <a:xfrm>
            <a:off x="2571750" y="5943600"/>
            <a:ext cx="830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The consensus protocol quantifies how rarely the three clusters converge.</a:t>
            </a:r>
          </a:p>
        </p:txBody>
      </p:sp>
    </p:spTree>
    <p:extLst>
      <p:ext uri="{BB962C8B-B14F-4D97-AF65-F5344CB8AC3E}">
        <p14:creationId xmlns:p14="http://schemas.microsoft.com/office/powerpoint/2010/main" val="782954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FEAA46C-4A90-40D5-839B-44BC9F527E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A6015-0E4C-4BB1-853E-C2BA2BDAA7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EBAB51-C371-409E-8C13-EFCE9C07947A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6B95A5-217D-4707-A67C-70B1E4AC227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RESULTS 8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EE0BF1-5B73-4D56-88D4-C2872D9F456B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One framework, seen against the rest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07B483-C05D-4B49-B8D4-5F56EF5B7689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B56763-6932-46E0-9610-04DF40ABDF27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6E9A57-E667-48F6-A137-1C8616A42D93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543300" cy="3943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5D1122-BFC7-432F-9813-2E44D9837AD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39433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B5CE23-3FE9-457D-8D26-40BE0DF69E51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93370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FaithJudge has the highest human correlation in Table 4.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It aligns most strongly with LLM-judge peers.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Agreement weakens for mixed methods and outlier members.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20942" y="1676400"/>
            <a:ext cx="6064865" cy="4038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B787B40-3A64-4A47-B7CC-394F2A2DFCAC}"/>
              </a:ext>
            </a:extLst>
          </p:cNvPr>
          <p:cNvSpPr>
            <a:spLocks noGrp="1"/>
          </p:cNvSpPr>
          <p:nvPr/>
        </p:nvSpPr>
        <p:spPr>
          <a:xfrm>
            <a:off x="4838700" y="5810250"/>
            <a:ext cx="6229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FaithJudge against twelve frameworks, colored by domain.</a:t>
            </a:r>
          </a:p>
        </p:txBody>
      </p:sp>
    </p:spTree>
    <p:extLst>
      <p:ext uri="{BB962C8B-B14F-4D97-AF65-F5344CB8AC3E}">
        <p14:creationId xmlns:p14="http://schemas.microsoft.com/office/powerpoint/2010/main" val="250452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1FDCD25-6664-4D70-9163-1F01C34BFD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152A32-2DCA-4B81-82DE-B177A2B47C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BD234-FCFB-4BC7-81BA-6E9F5BB50107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DCFD93-44E6-4DA0-B739-465309858AE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ACA4B1-D028-467C-B9C6-A2C97EF969EA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One faithfulness metric is insufficient evidence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2E9F3C-32F2-413C-9FF9-2407F8923761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6E1248-35A2-4221-9657-0F8F62B5A0E3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3991BE-75A4-4044-8966-99FAAA9C77E0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9867900" cy="10096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40675D-E368-476B-8429-CBC3FCE3A024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9867900" cy="571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227C36-24B2-439A-B311-99A39A1042E2}"/>
              </a:ext>
            </a:extLst>
          </p:cNvPr>
          <p:cNvSpPr>
            <a:spLocks noGrp="1"/>
          </p:cNvSpPr>
          <p:nvPr/>
        </p:nvSpPr>
        <p:spPr>
          <a:xfrm>
            <a:off x="1047750" y="1962150"/>
            <a:ext cx="952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Single-metric reporting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5DFDD3-0B28-4195-B42F-7AB9C96B51E7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952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On identical samples, mean scores range from 0.923 for G-Eval to 0.063 for RAGChecker.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A8A1FF-95B2-44B1-AE6E-8DDEA06B01C1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9867900" cy="8953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EB2732-480F-4EA7-B57B-157B08A74576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9867900" cy="571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456A9B-DABA-454A-B7DC-67C25AFAD487}"/>
              </a:ext>
            </a:extLst>
          </p:cNvPr>
          <p:cNvSpPr>
            <a:spLocks noGrp="1"/>
          </p:cNvSpPr>
          <p:nvPr/>
        </p:nvSpPr>
        <p:spPr>
          <a:xfrm>
            <a:off x="1047750" y="3276600"/>
            <a:ext cx="952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Cross-study comparison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CB9FAD-EFD5-4E1F-85EA-F5AB385AF9FE}"/>
              </a:ext>
            </a:extLst>
          </p:cNvPr>
          <p:cNvSpPr>
            <a:spLocks noGrp="1"/>
          </p:cNvSpPr>
          <p:nvPr/>
        </p:nvSpPr>
        <p:spPr>
          <a:xfrm>
            <a:off x="1047750" y="3581400"/>
            <a:ext cx="952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Observed score differences may reflect framework choice rather than system quality.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F92AC8-0EBD-4D5B-8398-45A095056879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9867900" cy="895350"/>
          </a:xfrm>
          <a:prstGeom prst="rect">
            <a:avLst/>
          </a:prstGeom>
          <a:solidFill>
            <a:srgbClr val="EEF3FB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B06587-D23F-4FE3-986B-25A6D6284FCA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9867900" cy="571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F6762B-386E-4345-944F-E3667BB49678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952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Evaluation-driven optimization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FB049D-335F-437E-A37B-496E6947EF9E}"/>
              </a:ext>
            </a:extLst>
          </p:cNvPr>
          <p:cNvSpPr>
            <a:spLocks noGrp="1"/>
          </p:cNvSpPr>
          <p:nvPr/>
        </p:nvSpPr>
        <p:spPr>
          <a:xfrm>
            <a:off x="1047750" y="4781550"/>
            <a:ext cx="952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Low between-cluster agreement means improvement on one metric may not carry to another.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FA77CE-DA14-4ECD-BF89-D71C6705DAB4}"/>
              </a:ext>
            </a:extLst>
          </p:cNvPr>
          <p:cNvSpPr>
            <a:spLocks noGrp="1"/>
          </p:cNvSpPr>
          <p:nvPr/>
        </p:nvSpPr>
        <p:spPr>
          <a:xfrm>
            <a:off x="876300" y="5753100"/>
            <a:ext cx="986790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896F65-BD4E-4B92-9772-CB8FAC6A68E9}"/>
              </a:ext>
            </a:extLst>
          </p:cNvPr>
          <p:cNvSpPr>
            <a:spLocks noGrp="1"/>
          </p:cNvSpPr>
          <p:nvPr/>
        </p:nvSpPr>
        <p:spPr>
          <a:xfrm>
            <a:off x="876300" y="575310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88AD3D-2A59-4B2A-B67B-FCC3F20CF3EB}"/>
              </a:ext>
            </a:extLst>
          </p:cNvPr>
          <p:cNvSpPr>
            <a:spLocks noGrp="1"/>
          </p:cNvSpPr>
          <p:nvPr/>
        </p:nvSpPr>
        <p:spPr>
          <a:xfrm>
            <a:off x="1047750" y="587692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3E4F62-EA9D-40D1-A7C3-4EFA6ABABA09}"/>
              </a:ext>
            </a:extLst>
          </p:cNvPr>
          <p:cNvSpPr>
            <a:spLocks noGrp="1"/>
          </p:cNvSpPr>
          <p:nvPr/>
        </p:nvSpPr>
        <p:spPr>
          <a:xfrm>
            <a:off x="2724150" y="5867400"/>
            <a:ext cx="7848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Framework identity belongs next to every faithfulness claim.</a:t>
            </a:r>
          </a:p>
        </p:txBody>
      </p:sp>
    </p:spTree>
    <p:extLst>
      <p:ext uri="{BB962C8B-B14F-4D97-AF65-F5344CB8AC3E}">
        <p14:creationId xmlns:p14="http://schemas.microsoft.com/office/powerpoint/2010/main" val="201964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88F4EC7-EB88-4154-944A-ED61875998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273E34-0247-456D-8C05-955FA7AB82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704425-2D6B-41A8-A3C2-252EA849E391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05437E-747C-43C8-8850-7B7973703E5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7D1327-FBFA-46BE-B98D-D9617D49B4E7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Choose the evaluator by the question it can answer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0E88E-A4C9-4491-9F98-E8B22EC10320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788A2-BD4F-4548-85AF-928D9BBBBEF6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8BBE76-1D01-45B9-BD52-2EA4D25C8DF6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3695700" cy="3238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F5F871-0815-439A-A46C-4FFBA2693BF3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76200" cy="323850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D77C2E-07C6-401C-A124-247A796CF4CA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278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Why disagreement appears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7C42E-8790-45BF-AD67-9BECC45CF4FE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295275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The clusters treat different evidence as faithfulness: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holistic judgment,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claim-level entailment,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semantic overlap,</a:t>
            </a:r>
          </a:p>
          <a:p>
            <a:pPr algn="l">
              <a:defRPr sz="1500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or context reliance signals.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7D44D0-EB0C-46E5-AB27-0318820C47BF}"/>
              </a:ext>
            </a:extLst>
          </p:cNvPr>
          <p:cNvSpPr>
            <a:spLocks noGrp="1"/>
          </p:cNvSpPr>
          <p:nvPr/>
        </p:nvSpPr>
        <p:spPr>
          <a:xfrm>
            <a:off x="5143500" y="1866900"/>
            <a:ext cx="5905500" cy="32385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121F78-C139-4390-B8ED-1A8078292B0A}"/>
              </a:ext>
            </a:extLst>
          </p:cNvPr>
          <p:cNvSpPr>
            <a:spLocks noGrp="1"/>
          </p:cNvSpPr>
          <p:nvPr/>
        </p:nvSpPr>
        <p:spPr>
          <a:xfrm>
            <a:off x="5143500" y="1866900"/>
            <a:ext cx="76200" cy="323850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35DDA5-086E-4F72-8B6B-2656C97BAC66}"/>
              </a:ext>
            </a:extLst>
          </p:cNvPr>
          <p:cNvSpPr>
            <a:spLocks noGrp="1"/>
          </p:cNvSpPr>
          <p:nvPr/>
        </p:nvSpPr>
        <p:spPr>
          <a:xfrm>
            <a:off x="5410200" y="219075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56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Paper guidelines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2F32F3-853A-45B1-BB4E-96CCD8D96CD0}"/>
              </a:ext>
            </a:extLst>
          </p:cNvPr>
          <p:cNvSpPr>
            <a:spLocks noGrp="1"/>
          </p:cNvSpPr>
          <p:nvPr/>
        </p:nvSpPr>
        <p:spPr>
          <a:xfrm>
            <a:off x="5410200" y="2724150"/>
            <a:ext cx="51054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General scoring: G-Eval or FaithJudge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Claim-level diagnosis: RAGChecker or HALT-RAG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Process-level analysis: ReDeEP or LRP4RAG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Multi-perspective reporting: one method from each cluster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354FC2-5287-4BB4-929B-5DC676E1E28B}"/>
              </a:ext>
            </a:extLst>
          </p:cNvPr>
          <p:cNvSpPr>
            <a:spLocks noGrp="1"/>
          </p:cNvSpPr>
          <p:nvPr/>
        </p:nvSpPr>
        <p:spPr>
          <a:xfrm>
            <a:off x="742950" y="5772150"/>
            <a:ext cx="10306050" cy="590550"/>
          </a:xfrm>
          <a:prstGeom prst="rect">
            <a:avLst/>
          </a:prstGeom>
          <a:solidFill>
            <a:srgbClr val="FDEAED"/>
          </a:solidFill>
          <a:ln w="9525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49D231-E8A5-4AF6-A5B6-6DB9C433C714}"/>
              </a:ext>
            </a:extLst>
          </p:cNvPr>
          <p:cNvSpPr>
            <a:spLocks noGrp="1"/>
          </p:cNvSpPr>
          <p:nvPr/>
        </p:nvSpPr>
        <p:spPr>
          <a:xfrm>
            <a:off x="742950" y="5772150"/>
            <a:ext cx="66675" cy="5905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4DE258-E2CC-402F-A926-F078DE5A1C17}"/>
              </a:ext>
            </a:extLst>
          </p:cNvPr>
          <p:cNvSpPr>
            <a:spLocks noGrp="1"/>
          </p:cNvSpPr>
          <p:nvPr/>
        </p:nvSpPr>
        <p:spPr>
          <a:xfrm>
            <a:off x="914400" y="58959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310EC4-7BB5-46F9-A922-3E05551D1214}"/>
              </a:ext>
            </a:extLst>
          </p:cNvPr>
          <p:cNvSpPr>
            <a:spLocks noGrp="1"/>
          </p:cNvSpPr>
          <p:nvPr/>
        </p:nvSpPr>
        <p:spPr>
          <a:xfrm>
            <a:off x="2590800" y="5886450"/>
            <a:ext cx="828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21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2147"/>
                </a:solidFill>
                <a:latin typeface="Aptos"/>
                <a:ea typeface="Aptos"/>
                <a:cs typeface="Aptos"/>
              </a:rPr>
              <a:t>Cross-cluster agreement is stronger than agreement inside one family.</a:t>
            </a:r>
          </a:p>
        </p:txBody>
      </p:sp>
    </p:spTree>
    <p:extLst>
      <p:ext uri="{BB962C8B-B14F-4D97-AF65-F5344CB8AC3E}">
        <p14:creationId xmlns:p14="http://schemas.microsoft.com/office/powerpoint/2010/main" val="59255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E913635-D110-4043-9419-C8FB7ABCA9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AB727A-96D9-4B76-88B7-4F95081378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BE81E9-A6F6-4C71-B1CD-D8AF43E35B1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6A1D18-74E6-4280-9082-B613FE1C1CF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46994E-5B58-46A1-945F-8C34B20756BF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Limitations point directly to the next reliability study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92DC1B-F46B-4333-92C8-330EAEB5F038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887AAC-BDF4-4AEE-833F-BA8E5488D8A2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9B077-F1A5-4993-8A53-3D48F2F45032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4667250" cy="32956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DE89CA-1D87-4138-8E16-77671C2CE1E2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76200" cy="3295650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9C14B1-C5B6-48D9-A46D-F7CE5E6151A3}"/>
              </a:ext>
            </a:extLst>
          </p:cNvPr>
          <p:cNvSpPr>
            <a:spLocks noGrp="1"/>
          </p:cNvSpPr>
          <p:nvPr/>
        </p:nvSpPr>
        <p:spPr>
          <a:xfrm>
            <a:off x="971550" y="21336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3047FD-3193-4A6D-98D7-107E8448809C}"/>
              </a:ext>
            </a:extLst>
          </p:cNvPr>
          <p:cNvSpPr>
            <a:spLocks noGrp="1"/>
          </p:cNvSpPr>
          <p:nvPr/>
        </p:nvSpPr>
        <p:spPr>
          <a:xfrm>
            <a:off x="971550" y="2667000"/>
            <a:ext cx="40195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- 200 samples may miss rare failure modes.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RAGBench draws from specific benchmarks.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LLM-judge results depend on the backbone.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The human subset has n = 50.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CC37EF-D7B2-4B3D-961F-C387C64C18D1}"/>
              </a:ext>
            </a:extLst>
          </p:cNvPr>
          <p:cNvSpPr>
            <a:spLocks noGrp="1"/>
          </p:cNvSpPr>
          <p:nvPr/>
        </p:nvSpPr>
        <p:spPr>
          <a:xfrm>
            <a:off x="5981700" y="1790700"/>
            <a:ext cx="5048250" cy="32956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5AC743-1CBB-4B60-B448-7862D4C99585}"/>
              </a:ext>
            </a:extLst>
          </p:cNvPr>
          <p:cNvSpPr>
            <a:spLocks noGrp="1"/>
          </p:cNvSpPr>
          <p:nvPr/>
        </p:nvSpPr>
        <p:spPr>
          <a:xfrm>
            <a:off x="5981700" y="1790700"/>
            <a:ext cx="76200" cy="32956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86EEF7-6FCA-476F-859F-779E3FDBD4B3}"/>
              </a:ext>
            </a:extLst>
          </p:cNvPr>
          <p:cNvSpPr>
            <a:spLocks noGrp="1"/>
          </p:cNvSpPr>
          <p:nvPr/>
        </p:nvSpPr>
        <p:spPr>
          <a:xfrm>
            <a:off x="6229350" y="21336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56B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56B3"/>
                </a:solidFill>
                <a:latin typeface="Aptos"/>
                <a:ea typeface="Aptos"/>
                <a:cs typeface="Aptos"/>
              </a:rPr>
              <a:t>Next 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DE05AA-247F-4BCA-83A5-4B578B7FE807}"/>
              </a:ext>
            </a:extLst>
          </p:cNvPr>
          <p:cNvSpPr>
            <a:spLocks noGrp="1"/>
          </p:cNvSpPr>
          <p:nvPr/>
        </p:nvSpPr>
        <p:spPr>
          <a:xfrm>
            <a:off x="6229350" y="2667000"/>
            <a:ext cx="43434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Separate the sub-constructs bundled under faithfulness.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Adopt meta-analytic reporting for new frameworks.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Build domain-adapted calibration procedures.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E96473-3420-4449-868F-4EDBF5378AF4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306050" cy="6286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DA9F28-22FA-42AC-A3B8-B07931793D3D}"/>
              </a:ext>
            </a:extLst>
          </p:cNvPr>
          <p:cNvSpPr>
            <a:spLocks noGrp="1"/>
          </p:cNvSpPr>
          <p:nvPr/>
        </p:nvSpPr>
        <p:spPr>
          <a:xfrm>
            <a:off x="971550" y="575310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paper concludes that faithfulness is not a single construct as currently measured.</a:t>
            </a:r>
          </a:p>
        </p:txBody>
      </p:sp>
    </p:spTree>
    <p:extLst>
      <p:ext uri="{BB962C8B-B14F-4D97-AF65-F5344CB8AC3E}">
        <p14:creationId xmlns:p14="http://schemas.microsoft.com/office/powerpoint/2010/main" val="989720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23E55A4-EC38-4297-8F7D-6E0927FC42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6A1A20-2D33-41FA-827F-9458C978C9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7A7D50-5016-4D09-A877-BACF517D2AF1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714500" cy="2857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54FC58-78CC-4387-9320-028C89A4494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E7126E-00BC-4ABA-9A1D-1B09163646A3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572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2147"/>
                </a:solidFill>
                <a:latin typeface="Aptos Display"/>
                <a:ea typeface="Aptos Display"/>
                <a:cs typeface="Aptos Display"/>
              </a:rPr>
              <a:t>Selected references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BF0124-88E9-4040-8D11-97785FCAE80F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D6E0EF"/>
          </a:solidFill>
          <a:ln w="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3BD924-9A0C-4701-A304-B40961118880}"/>
              </a:ext>
            </a:extLst>
          </p:cNvPr>
          <p:cNvSpPr>
            <a:spLocks noGrp="1"/>
          </p:cNvSpPr>
          <p:nvPr/>
        </p:nvSpPr>
        <p:spPr>
          <a:xfrm>
            <a:off x="10906125" y="6477000"/>
            <a:ext cx="704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74865F-2D28-497C-8287-1CE0C6797C45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4762500" cy="3981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A94980-49AC-4A5E-A4FA-9B113A4FC306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76200" cy="398145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244F98-1804-44C0-9C23-8FC658C3A61E}"/>
              </a:ext>
            </a:extLst>
          </p:cNvPr>
          <p:cNvSpPr>
            <a:spLocks noGrp="1"/>
          </p:cNvSpPr>
          <p:nvPr/>
        </p:nvSpPr>
        <p:spPr>
          <a:xfrm>
            <a:off x="1028700" y="2152650"/>
            <a:ext cx="390525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Friel et al. RAGBench. 2024.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Es et al. RAGAS. EACL 2024.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Liu et al. G-Eval. EMNLP 2023.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Tamber et al. FaithJudge. EMNLP 2025.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Ru et al. RAGChecker. NeurIPS 2024.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Saad-Falcon et al. ARES. NAACL 2024.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10F8BC-92B7-45DD-AC22-11966A717976}"/>
              </a:ext>
            </a:extLst>
          </p:cNvPr>
          <p:cNvSpPr>
            <a:spLocks noGrp="1"/>
          </p:cNvSpPr>
          <p:nvPr/>
        </p:nvSpPr>
        <p:spPr>
          <a:xfrm>
            <a:off x="6115050" y="1752600"/>
            <a:ext cx="4762500" cy="3981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0E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0BE57D-49DC-490B-9324-D3CD146D4A8F}"/>
              </a:ext>
            </a:extLst>
          </p:cNvPr>
          <p:cNvSpPr>
            <a:spLocks noGrp="1"/>
          </p:cNvSpPr>
          <p:nvPr/>
        </p:nvSpPr>
        <p:spPr>
          <a:xfrm>
            <a:off x="6115050" y="1752600"/>
            <a:ext cx="76200" cy="3981450"/>
          </a:xfrm>
          <a:prstGeom prst="rect">
            <a:avLst/>
          </a:prstGeom>
          <a:solidFill>
            <a:srgbClr val="0056B3"/>
          </a:solidFill>
          <a:ln w="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F28E17-4CE2-4F00-9C26-0376B5BBEE99}"/>
              </a:ext>
            </a:extLst>
          </p:cNvPr>
          <p:cNvSpPr>
            <a:spLocks noGrp="1"/>
          </p:cNvSpPr>
          <p:nvPr/>
        </p:nvSpPr>
        <p:spPr>
          <a:xfrm>
            <a:off x="6419850" y="2152650"/>
            <a:ext cx="390525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Zhang et al. BERTScore. ICLR 2020.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Sun et al. ReDeEP. ICLR 2025.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Cochran. Combination of estimates. 1954.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Higgins et al. Measuring inconsistency. BMJ 2003.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Tibshirani et al. Gap statistic. 2001.</a:t>
            </a:r>
          </a:p>
          <a:p>
            <a:pPr algn="l">
              <a:defRPr sz="1425" b="0">
                <a:solidFill>
                  <a:srgbClr val="1F27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733"/>
                </a:solidFill>
                <a:latin typeface="Aptos"/>
                <a:ea typeface="Aptos"/>
                <a:cs typeface="Aptos"/>
              </a:rPr>
              <a:t>- Full list in the paper and repository.</a:t>
            </a:r>
          </a:p>
        </p:txBody>
      </p:sp>
    </p:spTree>
    <p:extLst>
      <p:ext uri="{BB962C8B-B14F-4D97-AF65-F5344CB8AC3E}">
        <p14:creationId xmlns:p14="http://schemas.microsoft.com/office/powerpoint/2010/main" val="1216176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7F505B6-A211-4329-B1F9-6CFC1602FB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47"/>
          </a:solidFill>
          <a:ln w="0">
            <a:solidFill>
              <a:srgbClr val="00214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599E39-3E2E-4938-B0B5-3DBCC63B25C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809750" cy="47625"/>
          </a:xfrm>
          <a:prstGeom prst="rect">
            <a:avLst/>
          </a:prstGeom>
          <a:solidFill>
            <a:srgbClr val="E4002B"/>
          </a:solidFill>
          <a:ln w="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4FEE83-8925-4BA7-8EE9-6FB4C6DA78E2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5905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A9E04C-FAB7-4B22-9A70-211482417F21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Asif Ahmed Neloy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3C7FAF-D5C7-4098-8664-16EAEE81F95B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3053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6E0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EF"/>
                </a:solidFill>
                <a:latin typeface="Aptos"/>
                <a:ea typeface="Aptos"/>
                <a:cs typeface="Aptos"/>
              </a:rPr>
              <a:t>Senior AI Engineer, Delta Controls</a:t>
            </a:r>
          </a:p>
          <a:p>
            <a:pPr algn="l">
              <a:defRPr sz="1350" b="0">
                <a:solidFill>
                  <a:srgbClr val="D6E0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E0EF"/>
                </a:solidFill>
                <a:latin typeface="Aptos"/>
                <a:ea typeface="Aptos"/>
                <a:cs typeface="Aptos"/>
              </a:rPr>
              <a:t>Adjunct Professor, University of British Columbia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56E834-7D38-44A5-ABA4-A19DD3E3D0AD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9EC5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EC5FF"/>
                </a:solidFill>
                <a:latin typeface="Aptos"/>
                <a:ea typeface="Aptos"/>
                <a:cs typeface="Aptos"/>
              </a:rPr>
              <a:t>asif.neloy@ubc.ca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462CEA-09FB-4941-8DE4-C7E5A618AAEC}"/>
              </a:ext>
            </a:extLst>
          </p:cNvPr>
          <p:cNvSpPr>
            <a:spLocks noGrp="1"/>
          </p:cNvSpPr>
          <p:nvPr/>
        </p:nvSpPr>
        <p:spPr>
          <a:xfrm>
            <a:off x="6362700" y="2609850"/>
            <a:ext cx="3448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MD Nazmul Islam</a:t>
            </a:r>
          </a:p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Instructor, Keyano College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0A67EE-2F5E-456D-B3CE-6AF36348A734}"/>
              </a:ext>
            </a:extLst>
          </p:cNvPr>
          <p:cNvSpPr>
            <a:spLocks noGrp="1"/>
          </p:cNvSpPr>
          <p:nvPr/>
        </p:nvSpPr>
        <p:spPr>
          <a:xfrm>
            <a:off x="6362700" y="3581400"/>
            <a:ext cx="371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6E0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6E0EF"/>
                </a:solidFill>
                <a:latin typeface="Aptos"/>
                <a:ea typeface="Aptos"/>
                <a:cs typeface="Aptos"/>
              </a:rPr>
              <a:t>Interactive deck and repository</a:t>
            </a:r>
          </a:p>
          <a:p>
            <a:pPr algn="l">
              <a:defRPr sz="1500" b="1">
                <a:solidFill>
                  <a:srgbClr val="D6E0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6E0EF"/>
                </a:solidFill>
                <a:latin typeface="Aptos"/>
                <a:ea typeface="Aptos"/>
                <a:cs typeface="Aptos"/>
              </a:rPr>
              <a:t>available on GitHub.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5140375"/>
            <a:ext cx="2514600" cy="52060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62700" y="5141797"/>
            <a:ext cx="1676400" cy="51775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5F6047-4E34-4063-A198-82E013EBED23}"/>
              </a:ext>
            </a:extLst>
          </p:cNvPr>
          <p:cNvSpPr>
            <a:spLocks noGrp="1"/>
          </p:cNvSpPr>
          <p:nvPr/>
        </p:nvSpPr>
        <p:spPr>
          <a:xfrm>
            <a:off x="10934700" y="64770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E40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002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913092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1550</Words>
  <Application>Microsoft Office PowerPoint</Application>
  <DocSecurity>0</DocSecurity>
  <PresentationFormat>Widescreen</PresentationFormat>
  <Paragraphs>311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Asif Ahmed Neloy</cp:lastModifiedBy>
  <cp:revision>1</cp:revision>
  <dcterms:created xsi:type="dcterms:W3CDTF">2026-05-22T06:59:38Z</dcterms:created>
  <dcterms:modified xsi:type="dcterms:W3CDTF">2026-05-22T07:01:06Z</dcterms:modified>
</cp:coreProperties>
</file>