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CC201E9-7A15-446D-9AE1-E45957D84F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DADA6A-41CE-44C7-8F45-936A9D02A1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B6BF5-900C-473F-A873-F593D5757202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2FF473-F2F9-4707-9204-830046DCBCBD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2476500" cy="381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DDB0F-3573-44C8-BB76-8975A7094C4B}"/>
              </a:ext>
            </a:extLst>
          </p:cNvPr>
          <p:cNvSpPr>
            <a:spLocks noGrp="1"/>
          </p:cNvSpPr>
          <p:nvPr/>
        </p:nvSpPr>
        <p:spPr>
          <a:xfrm>
            <a:off x="571500" y="7048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CANADIAN AI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E38DA-FAFA-4370-9CC7-6A7B5FEFF299}"/>
              </a:ext>
            </a:extLst>
          </p:cNvPr>
          <p:cNvSpPr>
            <a:spLocks noGrp="1"/>
          </p:cNvSpPr>
          <p:nvPr/>
        </p:nvSpPr>
        <p:spPr>
          <a:xfrm>
            <a:off x="571500" y="9525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39th Canadian Conference on Artificial Intelligence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548EB-0B19-49D2-92F1-08BF11D05EBF}"/>
              </a:ext>
            </a:extLst>
          </p:cNvPr>
          <p:cNvSpPr>
            <a:spLocks noGrp="1"/>
          </p:cNvSpPr>
          <p:nvPr/>
        </p:nvSpPr>
        <p:spPr>
          <a:xfrm>
            <a:off x="571500" y="1295400"/>
            <a:ext cx="1123950" cy="2857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A4601D-5292-46E1-80F4-11D06E379CA3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PAPER 210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D7A0D4-49D4-45EF-8EE3-5FA7AF60A0E9}"/>
              </a:ext>
            </a:extLst>
          </p:cNvPr>
          <p:cNvSpPr>
            <a:spLocks noGrp="1"/>
          </p:cNvSpPr>
          <p:nvPr/>
        </p:nvSpPr>
        <p:spPr>
          <a:xfrm>
            <a:off x="571500" y="1581150"/>
            <a:ext cx="8858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A Meta-Analysis of Evaluation Framework</a:t>
            </a:r>
          </a:p>
          <a:p>
            <a:pPr algn="l">
              <a:def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Reliability and Cross-Domain Generalization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20250" y="835754"/>
            <a:ext cx="1562100" cy="5382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" y="3105150"/>
            <a:ext cx="1047750" cy="10477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33DBBF3-18A7-47D9-B0E7-8CA1BE648281}"/>
              </a:ext>
            </a:extLst>
          </p:cNvPr>
          <p:cNvSpPr>
            <a:spLocks noGrp="1"/>
          </p:cNvSpPr>
          <p:nvPr/>
        </p:nvSpPr>
        <p:spPr>
          <a:xfrm>
            <a:off x="1790700" y="3105150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Asif Ahmed Neloy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B6B903-F9B8-476F-9287-CFDBBC88E290}"/>
              </a:ext>
            </a:extLst>
          </p:cNvPr>
          <p:cNvSpPr>
            <a:spLocks noGrp="1"/>
          </p:cNvSpPr>
          <p:nvPr/>
        </p:nvSpPr>
        <p:spPr>
          <a:xfrm>
            <a:off x="1790700" y="3409950"/>
            <a:ext cx="342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Senior AI Engineer, Delta Controls</a:t>
            </a:r>
          </a:p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Adjunct Professor, Faculty of Land and Food Systems</a:t>
            </a:r>
          </a:p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University of British Columbia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6B15E9-DF7D-437B-9F2F-1733EB972419}"/>
              </a:ext>
            </a:extLst>
          </p:cNvPr>
          <p:cNvSpPr>
            <a:spLocks noGrp="1"/>
          </p:cNvSpPr>
          <p:nvPr/>
        </p:nvSpPr>
        <p:spPr>
          <a:xfrm>
            <a:off x="1790700" y="42291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asif.neloy@ubc.ca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29250" y="3105150"/>
            <a:ext cx="1047750" cy="10477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3DFF305-3157-47B9-80FE-4E9A6585BE54}"/>
              </a:ext>
            </a:extLst>
          </p:cNvPr>
          <p:cNvSpPr>
            <a:spLocks noGrp="1"/>
          </p:cNvSpPr>
          <p:nvPr/>
        </p:nvSpPr>
        <p:spPr>
          <a:xfrm>
            <a:off x="6648450" y="3105150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MD Nazmul Islam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D1ABD-6A7C-42D1-AC82-1DAE65341985}"/>
              </a:ext>
            </a:extLst>
          </p:cNvPr>
          <p:cNvSpPr>
            <a:spLocks noGrp="1"/>
          </p:cNvSpPr>
          <p:nvPr/>
        </p:nvSpPr>
        <p:spPr>
          <a:xfrm>
            <a:off x="6648450" y="3409950"/>
            <a:ext cx="3676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Instructor, Computer Systems Technology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University Studies, Keyano College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524250" y="5064398"/>
            <a:ext cx="2038350" cy="42200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924552" y="4969723"/>
            <a:ext cx="1409700" cy="43538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3034ED4-3A14-497B-BF36-6B31F682A1FD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2924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47358E8-D14E-4D9A-976D-375F0D060F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2ACB8C-B8A6-416B-8C43-707B7B284E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6BBCE1-06C0-4E6F-9C2F-91FAF0CE98F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E91024-6328-43F2-9701-87181FBB015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5B9179-00F1-489B-8EDE-A1BD9BB53D21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A faithfulness score matters only when the evaluator is reliable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D1D30-307E-4066-9DB9-2F7D6FB751FC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CBE307-AB66-4F47-99DB-25A53F426A30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EDDFBA-669F-4BB6-A60C-3C5D612EBE74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857500" cy="1543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F8615B-EC5A-4F07-B04F-2697F568CB8D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857500" cy="762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40030D-4221-4FE6-99FA-E60A3909B9DC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Retrieved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E24AD-EF39-43F9-83F5-B40151220431}"/>
              </a:ext>
            </a:extLst>
          </p:cNvPr>
          <p:cNvSpPr>
            <a:spLocks noGrp="1"/>
          </p:cNvSpPr>
          <p:nvPr/>
        </p:nvSpPr>
        <p:spPr>
          <a:xfrm>
            <a:off x="1066800" y="2724150"/>
            <a:ext cx="2343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Evidence selected for the question.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9D73FD-56A9-4993-B9CC-D3DFAD79CFED}"/>
              </a:ext>
            </a:extLst>
          </p:cNvPr>
          <p:cNvSpPr>
            <a:spLocks noGrp="1"/>
          </p:cNvSpPr>
          <p:nvPr/>
        </p:nvSpPr>
        <p:spPr>
          <a:xfrm>
            <a:off x="3924300" y="2476500"/>
            <a:ext cx="323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8A9BA-E873-4721-A588-41C95434ED46}"/>
              </a:ext>
            </a:extLst>
          </p:cNvPr>
          <p:cNvSpPr>
            <a:spLocks noGrp="1"/>
          </p:cNvSpPr>
          <p:nvPr/>
        </p:nvSpPr>
        <p:spPr>
          <a:xfrm>
            <a:off x="4495800" y="1962150"/>
            <a:ext cx="2857500" cy="1543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03DBC5-DB47-4421-A1A6-12BBAC9F055E}"/>
              </a:ext>
            </a:extLst>
          </p:cNvPr>
          <p:cNvSpPr>
            <a:spLocks noGrp="1"/>
          </p:cNvSpPr>
          <p:nvPr/>
        </p:nvSpPr>
        <p:spPr>
          <a:xfrm>
            <a:off x="4495800" y="1962150"/>
            <a:ext cx="2857500" cy="7620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E3CF93-D694-4464-A02E-FF5DA0AC2A67}"/>
              </a:ext>
            </a:extLst>
          </p:cNvPr>
          <p:cNvSpPr>
            <a:spLocks noGrp="1"/>
          </p:cNvSpPr>
          <p:nvPr/>
        </p:nvSpPr>
        <p:spPr>
          <a:xfrm>
            <a:off x="4724400" y="23241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Generated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5DDC1F-6B96-4545-9590-E22D23F58B22}"/>
              </a:ext>
            </a:extLst>
          </p:cNvPr>
          <p:cNvSpPr>
            <a:spLocks noGrp="1"/>
          </p:cNvSpPr>
          <p:nvPr/>
        </p:nvSpPr>
        <p:spPr>
          <a:xfrm>
            <a:off x="4724400" y="2724150"/>
            <a:ext cx="2343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The answer should remain grounded in context.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00E2F6-AB8B-467E-9E18-1E492CB3FF9A}"/>
              </a:ext>
            </a:extLst>
          </p:cNvPr>
          <p:cNvSpPr>
            <a:spLocks noGrp="1"/>
          </p:cNvSpPr>
          <p:nvPr/>
        </p:nvSpPr>
        <p:spPr>
          <a:xfrm>
            <a:off x="7581900" y="2476500"/>
            <a:ext cx="323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45D1B1-1D88-4950-AF1A-8B778A6E3D05}"/>
              </a:ext>
            </a:extLst>
          </p:cNvPr>
          <p:cNvSpPr>
            <a:spLocks noGrp="1"/>
          </p:cNvSpPr>
          <p:nvPr/>
        </p:nvSpPr>
        <p:spPr>
          <a:xfrm>
            <a:off x="8153400" y="1962150"/>
            <a:ext cx="2857500" cy="1543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4DCB52-2866-43CA-8BD4-6D3D393B6C6E}"/>
              </a:ext>
            </a:extLst>
          </p:cNvPr>
          <p:cNvSpPr>
            <a:spLocks noGrp="1"/>
          </p:cNvSpPr>
          <p:nvPr/>
        </p:nvSpPr>
        <p:spPr>
          <a:xfrm>
            <a:off x="8153400" y="1962150"/>
            <a:ext cx="2857500" cy="762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BB7B38-1198-4C44-A40C-A9B7263B04C7}"/>
              </a:ext>
            </a:extLst>
          </p:cNvPr>
          <p:cNvSpPr>
            <a:spLocks noGrp="1"/>
          </p:cNvSpPr>
          <p:nvPr/>
        </p:nvSpPr>
        <p:spPr>
          <a:xfrm>
            <a:off x="8382000" y="23241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Faithfulness score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BAD424-E8B7-4958-87AB-D7B7A49D2F92}"/>
              </a:ext>
            </a:extLst>
          </p:cNvPr>
          <p:cNvSpPr>
            <a:spLocks noGrp="1"/>
          </p:cNvSpPr>
          <p:nvPr/>
        </p:nvSpPr>
        <p:spPr>
          <a:xfrm>
            <a:off x="8382000" y="2724150"/>
            <a:ext cx="2343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The score supports research and deployment claims.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33DBA4-B505-4A75-B9E2-54BEC57A887C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4457700" cy="11049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22D34F-D17D-4DD0-B141-57C68446D7D5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445770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133E5F-BBD4-47CD-8AE7-E4838EAA0EAB}"/>
              </a:ext>
            </a:extLst>
          </p:cNvPr>
          <p:cNvSpPr>
            <a:spLocks noGrp="1"/>
          </p:cNvSpPr>
          <p:nvPr/>
        </p:nvSpPr>
        <p:spPr>
          <a:xfrm>
            <a:off x="1009650" y="4267200"/>
            <a:ext cx="4114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Paper scope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1E6F1D-F602-410D-8E38-8A2CF487EBDA}"/>
              </a:ext>
            </a:extLst>
          </p:cNvPr>
          <p:cNvSpPr>
            <a:spLocks noGrp="1"/>
          </p:cNvSpPr>
          <p:nvPr/>
        </p:nvSpPr>
        <p:spPr>
          <a:xfrm>
            <a:off x="1009650" y="4572000"/>
            <a:ext cx="4114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Faithfulness asks whether the answer is supported by the retrieved context.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16BC28-3569-4D71-B8A4-95C9D58FDB8C}"/>
              </a:ext>
            </a:extLst>
          </p:cNvPr>
          <p:cNvSpPr>
            <a:spLocks noGrp="1"/>
          </p:cNvSpPr>
          <p:nvPr/>
        </p:nvSpPr>
        <p:spPr>
          <a:xfrm>
            <a:off x="5715000" y="4095750"/>
            <a:ext cx="4914900" cy="11049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C7379F-C967-42D0-9FE8-38F0C535618D}"/>
              </a:ext>
            </a:extLst>
          </p:cNvPr>
          <p:cNvSpPr>
            <a:spLocks noGrp="1"/>
          </p:cNvSpPr>
          <p:nvPr/>
        </p:nvSpPr>
        <p:spPr>
          <a:xfrm>
            <a:off x="5715000" y="4095750"/>
            <a:ext cx="4914900" cy="571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810862-02AE-41FE-A9CC-D1240913173C}"/>
              </a:ext>
            </a:extLst>
          </p:cNvPr>
          <p:cNvSpPr>
            <a:spLocks noGrp="1"/>
          </p:cNvSpPr>
          <p:nvPr/>
        </p:nvSpPr>
        <p:spPr>
          <a:xfrm>
            <a:off x="5886450" y="4267200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Reliability question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7A9701-1FFF-4FDD-887D-CC1F7BD8FA7E}"/>
              </a:ext>
            </a:extLst>
          </p:cNvPr>
          <p:cNvSpPr>
            <a:spLocks noGrp="1"/>
          </p:cNvSpPr>
          <p:nvPr/>
        </p:nvSpPr>
        <p:spPr>
          <a:xfrm>
            <a:off x="5886450" y="4572000"/>
            <a:ext cx="457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Do different frameworks give compatible conclusions on the same answer?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C8DC74-B685-4954-8956-9ECE2FEB4CE9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97917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8493A1-2DCD-4B62-B349-D6DD18351043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15E3C4-1974-4D24-A8AA-C20BCFBD49FB}"/>
              </a:ext>
            </a:extLst>
          </p:cNvPr>
          <p:cNvSpPr>
            <a:spLocks noGrp="1"/>
          </p:cNvSpPr>
          <p:nvPr/>
        </p:nvSpPr>
        <p:spPr>
          <a:xfrm>
            <a:off x="1009650" y="56864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Talk focus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8BB32F-FB80-4D32-99AB-3BF877F057C7}"/>
              </a:ext>
            </a:extLst>
          </p:cNvPr>
          <p:cNvSpPr>
            <a:spLocks noGrp="1"/>
          </p:cNvSpPr>
          <p:nvPr/>
        </p:nvSpPr>
        <p:spPr>
          <a:xfrm>
            <a:off x="2686050" y="5676900"/>
            <a:ext cx="7772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paper tests the measurement tools used to judge RAG faithfulness.</a:t>
            </a:r>
          </a:p>
        </p:txBody>
      </p:sp>
    </p:spTree>
    <p:extLst>
      <p:ext uri="{BB962C8B-B14F-4D97-AF65-F5344CB8AC3E}">
        <p14:creationId xmlns:p14="http://schemas.microsoft.com/office/powerpoint/2010/main" val="1614989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143011B-8AFC-46FB-B518-6DB801B36C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BB242-80DB-4508-8010-D854E441BD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1DD7E1-3715-4CE8-9FE1-CE6F949EB33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069064-6988-4C2B-BA5A-0B55F75B9E9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BD1B4-48EB-407D-9333-88D8C5E57F0C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evaluation ecosystem makes interchangeability a testable assumption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5CB00-268F-4B5E-8D18-6C96BC7EB494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F3202-51BC-42D4-BF38-0C94BF90DA47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D0C9E5-9CB0-47A1-B3DC-596C2DFBED8C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2381250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4E9536-F8DB-4E58-AD9C-4B51FB2C87FB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2381250" cy="66675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D8618-A1B4-49F9-A448-31C03BFCBDAD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LLM-as-judge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53F56A-E700-40A2-8437-3C0071A11BAF}"/>
              </a:ext>
            </a:extLst>
          </p:cNvPr>
          <p:cNvSpPr>
            <a:spLocks noGrp="1"/>
          </p:cNvSpPr>
          <p:nvPr/>
        </p:nvSpPr>
        <p:spPr>
          <a:xfrm>
            <a:off x="838200" y="2647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Prompted judge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605806-D51B-441B-9C53-E380B6958E60}"/>
              </a:ext>
            </a:extLst>
          </p:cNvPr>
          <p:cNvSpPr>
            <a:spLocks noGrp="1"/>
          </p:cNvSpPr>
          <p:nvPr/>
        </p:nvSpPr>
        <p:spPr>
          <a:xfrm>
            <a:off x="3448050" y="1943100"/>
            <a:ext cx="2381250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6D8E7C-F4D4-4EAE-BDF7-059291658561}"/>
              </a:ext>
            </a:extLst>
          </p:cNvPr>
          <p:cNvSpPr>
            <a:spLocks noGrp="1"/>
          </p:cNvSpPr>
          <p:nvPr/>
        </p:nvSpPr>
        <p:spPr>
          <a:xfrm>
            <a:off x="3448050" y="1943100"/>
            <a:ext cx="2381250" cy="66675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496097-AA68-4F95-A5E4-10916685F7E1}"/>
              </a:ext>
            </a:extLst>
          </p:cNvPr>
          <p:cNvSpPr>
            <a:spLocks noGrp="1"/>
          </p:cNvSpPr>
          <p:nvPr/>
        </p:nvSpPr>
        <p:spPr>
          <a:xfrm>
            <a:off x="3619500" y="2286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NLI based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E1AFD1-01C2-4222-AB4E-1F4CF9E844A5}"/>
              </a:ext>
            </a:extLst>
          </p:cNvPr>
          <p:cNvSpPr>
            <a:spLocks noGrp="1"/>
          </p:cNvSpPr>
          <p:nvPr/>
        </p:nvSpPr>
        <p:spPr>
          <a:xfrm>
            <a:off x="3619500" y="2647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Claim entailment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278F1E-7D1B-4295-B7EE-9D783A4CE7DC}"/>
              </a:ext>
            </a:extLst>
          </p:cNvPr>
          <p:cNvSpPr>
            <a:spLocks noGrp="1"/>
          </p:cNvSpPr>
          <p:nvPr/>
        </p:nvSpPr>
        <p:spPr>
          <a:xfrm>
            <a:off x="6229350" y="1943100"/>
            <a:ext cx="2381250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85C13A-FC97-4FA9-A9A6-802B855203B2}"/>
              </a:ext>
            </a:extLst>
          </p:cNvPr>
          <p:cNvSpPr>
            <a:spLocks noGrp="1"/>
          </p:cNvSpPr>
          <p:nvPr/>
        </p:nvSpPr>
        <p:spPr>
          <a:xfrm>
            <a:off x="6229350" y="1943100"/>
            <a:ext cx="2381250" cy="66675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F0E736-9D6F-466C-8D4D-12AA91B0E169}"/>
              </a:ext>
            </a:extLst>
          </p:cNvPr>
          <p:cNvSpPr>
            <a:spLocks noGrp="1"/>
          </p:cNvSpPr>
          <p:nvPr/>
        </p:nvSpPr>
        <p:spPr>
          <a:xfrm>
            <a:off x="6400800" y="2286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Embedding and QA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E8D9E1-FB50-4D9A-9689-AD33CA6F1C7A}"/>
              </a:ext>
            </a:extLst>
          </p:cNvPr>
          <p:cNvSpPr>
            <a:spLocks noGrp="1"/>
          </p:cNvSpPr>
          <p:nvPr/>
        </p:nvSpPr>
        <p:spPr>
          <a:xfrm>
            <a:off x="6400800" y="2647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Semantic overlap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03F3A-F9D5-4EC8-90C3-EBD76CCC1E06}"/>
              </a:ext>
            </a:extLst>
          </p:cNvPr>
          <p:cNvSpPr>
            <a:spLocks noGrp="1"/>
          </p:cNvSpPr>
          <p:nvPr/>
        </p:nvSpPr>
        <p:spPr>
          <a:xfrm>
            <a:off x="9010650" y="1943100"/>
            <a:ext cx="2381250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82A1E7-304F-4B19-8C71-09D7D9E638B6}"/>
              </a:ext>
            </a:extLst>
          </p:cNvPr>
          <p:cNvSpPr>
            <a:spLocks noGrp="1"/>
          </p:cNvSpPr>
          <p:nvPr/>
        </p:nvSpPr>
        <p:spPr>
          <a:xfrm>
            <a:off x="9010650" y="1943100"/>
            <a:ext cx="2381250" cy="66675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ACC864-DF84-4EE2-B83E-2D770CF6702A}"/>
              </a:ext>
            </a:extLst>
          </p:cNvPr>
          <p:cNvSpPr>
            <a:spLocks noGrp="1"/>
          </p:cNvSpPr>
          <p:nvPr/>
        </p:nvSpPr>
        <p:spPr>
          <a:xfrm>
            <a:off x="9182100" y="2286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F2F233-658D-4E52-9B84-A312B5AF8C86}"/>
              </a:ext>
            </a:extLst>
          </p:cNvPr>
          <p:cNvSpPr>
            <a:spLocks noGrp="1"/>
          </p:cNvSpPr>
          <p:nvPr/>
        </p:nvSpPr>
        <p:spPr>
          <a:xfrm>
            <a:off x="9182100" y="2647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Context reliance signals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F09356-F96D-4E2C-99E0-EBD9143B590D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744200" cy="7239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8A75A6-A2F7-4271-9C30-804B29798718}"/>
              </a:ext>
            </a:extLst>
          </p:cNvPr>
          <p:cNvSpPr>
            <a:spLocks noGrp="1"/>
          </p:cNvSpPr>
          <p:nvPr/>
        </p:nvSpPr>
        <p:spPr>
          <a:xfrm>
            <a:off x="876300" y="3943350"/>
            <a:ext cx="1028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 these frameworks measure the same construct, scores should align on identical inputs.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F7D093-CAC5-475B-98E6-3217A4BD90A2}"/>
              </a:ext>
            </a:extLst>
          </p:cNvPr>
          <p:cNvSpPr>
            <a:spLocks noGrp="1"/>
          </p:cNvSpPr>
          <p:nvPr/>
        </p:nvSpPr>
        <p:spPr>
          <a:xfrm>
            <a:off x="857250" y="4895850"/>
            <a:ext cx="9810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Prior work validates individual tools or compares small subsets.</a:t>
            </a:r>
          </a:p>
          <a:p>
            <a:pPr algn="l">
              <a:defRPr sz="15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This paper asks whether framework choice is interchangeable across the broader ecosystem.</a:t>
            </a:r>
          </a:p>
        </p:txBody>
      </p:sp>
    </p:spTree>
    <p:extLst>
      <p:ext uri="{BB962C8B-B14F-4D97-AF65-F5344CB8AC3E}">
        <p14:creationId xmlns:p14="http://schemas.microsoft.com/office/powerpoint/2010/main" val="41232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183C9A6-F54A-4317-9D80-EB3AA08F00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13F051-A537-4D3F-A6D3-F7C4A4DF7D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BFD1C-39A5-478F-AE08-13E1ACBEA08F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028DCE-4518-40A4-8FCB-79253DE1A6B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2CB02D-704E-40DE-83DF-8DEAFBEE2144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paper tests faithfulness frameworks under matched conditions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74B8B-6B78-4DE7-82E1-B2440260AFD4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C63265-F404-47A5-96FA-B937ED52802E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209C00-F82F-4C65-B0E9-E2623BB6520C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10744200" cy="7239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7F1624-A801-4BB1-8B8C-7789502D7082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1028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Twenty frameworks, the same 200 question-context-answer triples, three domains.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D8B8D-41BD-4173-8905-254DFA219B63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4953000" cy="247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832755-BCE6-469A-95FA-E87646FD692D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76200" cy="24765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158A25-3744-409A-A70D-75DF20FAFBCC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Gaps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F374DF-0418-4935-BCAD-90050EF0E92B}"/>
              </a:ext>
            </a:extLst>
          </p:cNvPr>
          <p:cNvSpPr>
            <a:spLocks noGrp="1"/>
          </p:cNvSpPr>
          <p:nvPr/>
        </p:nvSpPr>
        <p:spPr>
          <a:xfrm>
            <a:off x="914400" y="3619500"/>
            <a:ext cx="43434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No comprehensive pairwise agreement study on identical RAG inputs.</a:t>
            </a:r>
          </a:p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No matched test across general knowledge, finance, and biomedicine.</a:t>
            </a:r>
          </a:p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Formal heterogeneity analysis remains rare in RAG evaluation.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7E536A-4807-447C-819A-6C652C661CBB}"/>
              </a:ext>
            </a:extLst>
          </p:cNvPr>
          <p:cNvSpPr>
            <a:spLocks noGrp="1"/>
          </p:cNvSpPr>
          <p:nvPr/>
        </p:nvSpPr>
        <p:spPr>
          <a:xfrm>
            <a:off x="6076950" y="2895600"/>
            <a:ext cx="5334000" cy="247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A4353-63B5-466A-8D5F-87A14FDD6144}"/>
              </a:ext>
            </a:extLst>
          </p:cNvPr>
          <p:cNvSpPr>
            <a:spLocks noGrp="1"/>
          </p:cNvSpPr>
          <p:nvPr/>
        </p:nvSpPr>
        <p:spPr>
          <a:xfrm>
            <a:off x="6076950" y="2895600"/>
            <a:ext cx="76200" cy="247650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B39218-ABE1-4C50-8120-F6E774598099}"/>
              </a:ext>
            </a:extLst>
          </p:cNvPr>
          <p:cNvSpPr>
            <a:spLocks noGrp="1"/>
          </p:cNvSpPr>
          <p:nvPr/>
        </p:nvSpPr>
        <p:spPr>
          <a:xfrm>
            <a:off x="6324600" y="31623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Contributions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1B34BA-FE4B-48B9-99C5-792938807AA1}"/>
              </a:ext>
            </a:extLst>
          </p:cNvPr>
          <p:cNvSpPr>
            <a:spLocks noGrp="1"/>
          </p:cNvSpPr>
          <p:nvPr/>
        </p:nvSpPr>
        <p:spPr>
          <a:xfrm>
            <a:off x="6324600" y="3619500"/>
            <a:ext cx="47244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Controlled reliability comparison of twenty frameworks.</a:t>
            </a:r>
          </a:p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Meta-analytic heterogeneity and pairwise agreement analysis.</a:t>
            </a:r>
          </a:p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Three clusters plus domain, human, and consensus analyses.</a:t>
            </a:r>
          </a:p>
        </p:txBody>
      </p:sp>
    </p:spTree>
    <p:extLst>
      <p:ext uri="{BB962C8B-B14F-4D97-AF65-F5344CB8AC3E}">
        <p14:creationId xmlns:p14="http://schemas.microsoft.com/office/powerpoint/2010/main" val="1475533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E7253A4-CA63-438D-B6C0-B98BA1255C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BD508B-D104-4E75-B538-1E588C2D59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CF4211-C10A-45AF-B864-EDD76B80FB2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CF378-E316-46BF-9A13-A48FD71C8FB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A00F0-18BB-4A28-BCD3-50DF91850A24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study narrows faithfulness before it measures reliability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F9DC0F-4E65-4ADF-B9EB-ABCC649CD747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7D0523-54B2-49A6-A35F-9A12D36302A4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7A573-4C58-4C44-933C-8AAC0A806F83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668000" cy="125730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DEDEC4-2D7D-4C9E-B17C-59BBD2B40E97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668000" cy="571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C721FA-D0AB-4DA6-B4F8-4F3D4ECA0C45}"/>
              </a:ext>
            </a:extLst>
          </p:cNvPr>
          <p:cNvSpPr>
            <a:spLocks noGrp="1"/>
          </p:cNvSpPr>
          <p:nvPr/>
        </p:nvSpPr>
        <p:spPr>
          <a:xfrm>
            <a:off x="857250" y="2019300"/>
            <a:ext cx="10325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Working definition of faithfulness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3A3D1-FB46-401D-81B4-79D1323D4EF6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10325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Every claim in the answer is entailed by context X, and no claim contradicts X.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90CF8-D4F8-40A1-B55D-9794D38827A6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4953000" cy="10668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92CC22-A7A1-4CAE-AD0D-8F7E934AB11C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495300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F759F7-E660-41A2-BD8B-3AB2ED485EE7}"/>
              </a:ext>
            </a:extLst>
          </p:cNvPr>
          <p:cNvSpPr>
            <a:spLocks noGrp="1"/>
          </p:cNvSpPr>
          <p:nvPr/>
        </p:nvSpPr>
        <p:spPr>
          <a:xfrm>
            <a:off x="857250" y="35242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Excluded from this definition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319D95-9556-4F0B-A0F6-CF1DEA0491B3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Completeness, fluency, and relevance to the query.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54DF07-B5C7-4430-B60D-D55823013188}"/>
              </a:ext>
            </a:extLst>
          </p:cNvPr>
          <p:cNvSpPr>
            <a:spLocks noGrp="1"/>
          </p:cNvSpPr>
          <p:nvPr/>
        </p:nvSpPr>
        <p:spPr>
          <a:xfrm>
            <a:off x="6076950" y="3352800"/>
            <a:ext cx="5276850" cy="10668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9020EE-992F-4E72-B5C4-1B2039E7CC56}"/>
              </a:ext>
            </a:extLst>
          </p:cNvPr>
          <p:cNvSpPr>
            <a:spLocks noGrp="1"/>
          </p:cNvSpPr>
          <p:nvPr/>
        </p:nvSpPr>
        <p:spPr>
          <a:xfrm>
            <a:off x="6076950" y="3352800"/>
            <a:ext cx="5276850" cy="571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4B525-2C0F-4984-B0C2-0467EFA00416}"/>
              </a:ext>
            </a:extLst>
          </p:cNvPr>
          <p:cNvSpPr>
            <a:spLocks noGrp="1"/>
          </p:cNvSpPr>
          <p:nvPr/>
        </p:nvSpPr>
        <p:spPr>
          <a:xfrm>
            <a:off x="6248400" y="3524250"/>
            <a:ext cx="493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Meta-analysis for reliability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9CA97F-3144-4535-8F9B-8BDEC8B7C4BD}"/>
              </a:ext>
            </a:extLst>
          </p:cNvPr>
          <p:cNvSpPr>
            <a:spLocks noGrp="1"/>
          </p:cNvSpPr>
          <p:nvPr/>
        </p:nvSpPr>
        <p:spPr>
          <a:xfrm>
            <a:off x="6248400" y="3829050"/>
            <a:ext cx="4933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Cochran's Q and I-squared test whether variation across instruments exceeds sampling error.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B26086-C0E6-4DDC-A337-319EA9708BF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6680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AC5A2D-F910-4908-8672-8C61DA120C0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66ED56-56AF-4E5D-9B56-ACE8EF0C2F4F}"/>
              </a:ext>
            </a:extLst>
          </p:cNvPr>
          <p:cNvSpPr>
            <a:spLocks noGrp="1"/>
          </p:cNvSpPr>
          <p:nvPr/>
        </p:nvSpPr>
        <p:spPr>
          <a:xfrm>
            <a:off x="857250" y="50768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Why this axis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CDC3E7-20C2-4538-BD2B-FC947263B5BE}"/>
              </a:ext>
            </a:extLst>
          </p:cNvPr>
          <p:cNvSpPr>
            <a:spLocks noGrp="1"/>
          </p:cNvSpPr>
          <p:nvPr/>
        </p:nvSpPr>
        <p:spPr>
          <a:xfrm>
            <a:off x="2533650" y="5067300"/>
            <a:ext cx="8648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Faithfulness is the property all twenty frameworks claim to measure.</a:t>
            </a:r>
          </a:p>
        </p:txBody>
      </p:sp>
    </p:spTree>
    <p:extLst>
      <p:ext uri="{BB962C8B-B14F-4D97-AF65-F5344CB8AC3E}">
        <p14:creationId xmlns:p14="http://schemas.microsoft.com/office/powerpoint/2010/main" val="205387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0B950E3-B6DA-431F-B915-C2BB9DD1A6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386C2-128C-40C6-91B4-AB7105E647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2F97E0-4706-4DED-A0BC-B76636DDAE94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662377-B8AA-4FD0-A20D-2FBDDCEA847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3D99F1-0A70-44FD-9FA0-5CF715C98D96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Twenty frameworks span the paper's framework 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5A3931-1692-48D6-A3E9-8AE4B53BA733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F9B6BE-DAC5-44B3-89B9-6482DBA074E2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B9CF05-E04A-45E4-A659-D48E09E77CEE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10515600" cy="533400"/>
          </a:xfrm>
          <a:prstGeom prst="rect">
            <a:avLst/>
          </a:prstGeom>
          <a:solidFill>
            <a:srgbClr val="002147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FAA6FC-876E-4CD5-A3CA-818CB3D64E60}"/>
              </a:ext>
            </a:extLst>
          </p:cNvPr>
          <p:cNvSpPr>
            <a:spLocks noGrp="1"/>
          </p:cNvSpPr>
          <p:nvPr/>
        </p:nvSpPr>
        <p:spPr>
          <a:xfrm>
            <a:off x="1009650" y="19240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9ED4B3-AB64-4EE1-83C4-1DD562944303}"/>
              </a:ext>
            </a:extLst>
          </p:cNvPr>
          <p:cNvSpPr>
            <a:spLocks noGrp="1"/>
          </p:cNvSpPr>
          <p:nvPr/>
        </p:nvSpPr>
        <p:spPr>
          <a:xfrm>
            <a:off x="3619500" y="19240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41177-598C-49EA-BBD6-EC2276E4B984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0515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DCE706-8BAE-4589-8F95-092383C46503}"/>
              </a:ext>
            </a:extLst>
          </p:cNvPr>
          <p:cNvSpPr>
            <a:spLocks noGrp="1"/>
          </p:cNvSpPr>
          <p:nvPr/>
        </p:nvSpPr>
        <p:spPr>
          <a:xfrm>
            <a:off x="1009650" y="24574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LLM-as-judge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679778-5044-4B8A-8CE0-7769329C54AB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RAGAS, G-Eval, DeepEval, FaithJudge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2D07DA-F587-403B-A3B6-B82C08B5E22B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10515600" cy="5334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BFFDDC-E19F-416D-BD93-A7ECF7AB24AF}"/>
              </a:ext>
            </a:extLst>
          </p:cNvPr>
          <p:cNvSpPr>
            <a:spLocks noGrp="1"/>
          </p:cNvSpPr>
          <p:nvPr/>
        </p:nvSpPr>
        <p:spPr>
          <a:xfrm>
            <a:off x="1009650" y="29908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NLI based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7FBB45-CC0A-4374-A02C-5268B30D4C41}"/>
              </a:ext>
            </a:extLst>
          </p:cNvPr>
          <p:cNvSpPr>
            <a:spLocks noGrp="1"/>
          </p:cNvSpPr>
          <p:nvPr/>
        </p:nvSpPr>
        <p:spPr>
          <a:xfrm>
            <a:off x="3619500" y="29908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RAGChecker, HALT-RAG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DDAE38-28A1-425C-8272-A655D544AFC4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10515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604491-B565-45E6-B04E-2A2871AC4926}"/>
              </a:ext>
            </a:extLst>
          </p:cNvPr>
          <p:cNvSpPr>
            <a:spLocks noGrp="1"/>
          </p:cNvSpPr>
          <p:nvPr/>
        </p:nvSpPr>
        <p:spPr>
          <a:xfrm>
            <a:off x="1009650" y="35242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Embedding and QA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FA31D9-C10F-40D2-8CAD-0404658BE598}"/>
              </a:ext>
            </a:extLst>
          </p:cNvPr>
          <p:cNvSpPr>
            <a:spLocks noGrp="1"/>
          </p:cNvSpPr>
          <p:nvPr/>
        </p:nvSpPr>
        <p:spPr>
          <a:xfrm>
            <a:off x="3619500" y="35242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BERTScore, UniEval, QAFactEval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C257DF-9379-4A58-AA7B-1F0B64D6345D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515600" cy="5334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232E67-3904-4EC5-A62F-4A0746C2B25F}"/>
              </a:ext>
            </a:extLst>
          </p:cNvPr>
          <p:cNvSpPr>
            <a:spLocks noGrp="1"/>
          </p:cNvSpPr>
          <p:nvPr/>
        </p:nvSpPr>
        <p:spPr>
          <a:xfrm>
            <a:off x="1009650" y="40576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Token and classifier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B0C376-A76A-4E06-B9C1-E883E01B3464}"/>
              </a:ext>
            </a:extLst>
          </p:cNvPr>
          <p:cNvSpPr>
            <a:spLocks noGrp="1"/>
          </p:cNvSpPr>
          <p:nvPr/>
        </p:nvSpPr>
        <p:spPr>
          <a:xfrm>
            <a:off x="3619500" y="40576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TRACe, ARES, LettuceDetect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315185-4E38-4655-8BCB-B881FFF34509}"/>
              </a:ext>
            </a:extLst>
          </p:cNvPr>
          <p:cNvSpPr>
            <a:spLocks noGrp="1"/>
          </p:cNvSpPr>
          <p:nvPr/>
        </p:nvSpPr>
        <p:spPr>
          <a:xfrm>
            <a:off x="914400" y="4476750"/>
            <a:ext cx="10515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756308-0C8A-411D-9A23-2F0F899E53BF}"/>
              </a:ext>
            </a:extLst>
          </p:cNvPr>
          <p:cNvSpPr>
            <a:spLocks noGrp="1"/>
          </p:cNvSpPr>
          <p:nvPr/>
        </p:nvSpPr>
        <p:spPr>
          <a:xfrm>
            <a:off x="1009650" y="45910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4639CC-FDFF-4053-B875-44E77342BEE5}"/>
              </a:ext>
            </a:extLst>
          </p:cNvPr>
          <p:cNvSpPr>
            <a:spLocks noGrp="1"/>
          </p:cNvSpPr>
          <p:nvPr/>
        </p:nvSpPr>
        <p:spPr>
          <a:xfrm>
            <a:off x="3619500" y="45910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ReDeEP, LRP4RAG, LUMINA, HSAD, SIRG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461138-6548-4478-9596-DB5EBAED6103}"/>
              </a:ext>
            </a:extLst>
          </p:cNvPr>
          <p:cNvSpPr>
            <a:spLocks noGrp="1"/>
          </p:cNvSpPr>
          <p:nvPr/>
        </p:nvSpPr>
        <p:spPr>
          <a:xfrm>
            <a:off x="914400" y="5010150"/>
            <a:ext cx="10515600" cy="5334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F4B302-6455-44B5-A050-013C7F88E596}"/>
              </a:ext>
            </a:extLst>
          </p:cNvPr>
          <p:cNvSpPr>
            <a:spLocks noGrp="1"/>
          </p:cNvSpPr>
          <p:nvPr/>
        </p:nvSpPr>
        <p:spPr>
          <a:xfrm>
            <a:off x="1009650" y="51244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Other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B6CEA5-2C8D-4346-9747-0ED10EB114EF}"/>
              </a:ext>
            </a:extLst>
          </p:cNvPr>
          <p:cNvSpPr>
            <a:spLocks noGrp="1"/>
          </p:cNvSpPr>
          <p:nvPr/>
        </p:nvSpPr>
        <p:spPr>
          <a:xfrm>
            <a:off x="3619500" y="51244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GaRAGe, MetaRAG, KG-RAG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4D9C75-D11E-4432-A424-B712182BB42C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10515600" cy="5905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3C898C-D101-420C-AC32-E6FA03A3E15C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66675" cy="5905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AC8540-182E-4729-84FC-E40F087B4C1A}"/>
              </a:ext>
            </a:extLst>
          </p:cNvPr>
          <p:cNvSpPr>
            <a:spLocks noGrp="1"/>
          </p:cNvSpPr>
          <p:nvPr/>
        </p:nvSpPr>
        <p:spPr>
          <a:xfrm>
            <a:off x="1085850" y="57816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60BBEE-CBA3-418D-9E46-1778D1742300}"/>
              </a:ext>
            </a:extLst>
          </p:cNvPr>
          <p:cNvSpPr>
            <a:spLocks noGrp="1"/>
          </p:cNvSpPr>
          <p:nvPr/>
        </p:nvSpPr>
        <p:spPr>
          <a:xfrm>
            <a:off x="2762250" y="5772150"/>
            <a:ext cx="8496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study spans six years of development, from 2020 through 2026.</a:t>
            </a:r>
          </a:p>
        </p:txBody>
      </p:sp>
    </p:spTree>
    <p:extLst>
      <p:ext uri="{BB962C8B-B14F-4D97-AF65-F5344CB8AC3E}">
        <p14:creationId xmlns:p14="http://schemas.microsoft.com/office/powerpoint/2010/main" val="70793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6C0EF67-C85F-4C63-8004-B5D1266338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13B5CD-747A-4C61-A76F-C304714171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AC9302-21BC-4194-8140-35B72704435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2854E5-F2C3-494C-8612-5046A7E11EF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B9C18-D1B3-4FB9-A5CF-AC021A3940D4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Every framework sees the same 200 RAGBench samples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E8431-BD98-4649-8174-07AB7EE7B1DC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E413E1-D8C6-48FE-8461-BBFD8F77C509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0C9C74-82EC-4DE5-907F-8540F0BAB9E8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3048000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5541E4-9134-4F05-9927-1CB2F94C455D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3048000" cy="762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804E76-C3CC-41A4-8E4E-B7775C93287A}"/>
              </a:ext>
            </a:extLst>
          </p:cNvPr>
          <p:cNvSpPr>
            <a:spLocks noGrp="1"/>
          </p:cNvSpPr>
          <p:nvPr/>
        </p:nvSpPr>
        <p:spPr>
          <a:xfrm>
            <a:off x="971550" y="22669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General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90DFB2-773D-4CA5-A7CA-23BFFD421A60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67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1057E8-16D3-4A66-B2AA-187931534EFA}"/>
              </a:ext>
            </a:extLst>
          </p:cNvPr>
          <p:cNvSpPr>
            <a:spLocks noGrp="1"/>
          </p:cNvSpPr>
          <p:nvPr/>
        </p:nvSpPr>
        <p:spPr>
          <a:xfrm>
            <a:off x="971550" y="32766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HotpotQA, MS MARCO, HAGRID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3DAA81-077B-4A5E-AFBF-69FC25588175}"/>
              </a:ext>
            </a:extLst>
          </p:cNvPr>
          <p:cNvSpPr>
            <a:spLocks noGrp="1"/>
          </p:cNvSpPr>
          <p:nvPr/>
        </p:nvSpPr>
        <p:spPr>
          <a:xfrm>
            <a:off x="4362450" y="1924050"/>
            <a:ext cx="3048000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41AC09-C844-4C21-9912-1A5621BE54FA}"/>
              </a:ext>
            </a:extLst>
          </p:cNvPr>
          <p:cNvSpPr>
            <a:spLocks noGrp="1"/>
          </p:cNvSpPr>
          <p:nvPr/>
        </p:nvSpPr>
        <p:spPr>
          <a:xfrm>
            <a:off x="4362450" y="1924050"/>
            <a:ext cx="3048000" cy="762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36B4A9-2DB8-4121-829B-667381A35A9E}"/>
              </a:ext>
            </a:extLst>
          </p:cNvPr>
          <p:cNvSpPr>
            <a:spLocks noGrp="1"/>
          </p:cNvSpPr>
          <p:nvPr/>
        </p:nvSpPr>
        <p:spPr>
          <a:xfrm>
            <a:off x="4572000" y="22669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3ED61F-5516-4550-BAEE-BEB8BB7C0CE1}"/>
              </a:ext>
            </a:extLst>
          </p:cNvPr>
          <p:cNvSpPr>
            <a:spLocks noGrp="1"/>
          </p:cNvSpPr>
          <p:nvPr/>
        </p:nvSpPr>
        <p:spPr>
          <a:xfrm>
            <a:off x="4572000" y="266700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67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3FDB6B-462D-486D-AA7E-963A109209B5}"/>
              </a:ext>
            </a:extLst>
          </p:cNvPr>
          <p:cNvSpPr>
            <a:spLocks noGrp="1"/>
          </p:cNvSpPr>
          <p:nvPr/>
        </p:nvSpPr>
        <p:spPr>
          <a:xfrm>
            <a:off x="4572000" y="32766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FinQA, DelucionQA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3FF193-05EC-48DB-A2A0-C3F602D17045}"/>
              </a:ext>
            </a:extLst>
          </p:cNvPr>
          <p:cNvSpPr>
            <a:spLocks noGrp="1"/>
          </p:cNvSpPr>
          <p:nvPr/>
        </p:nvSpPr>
        <p:spPr>
          <a:xfrm>
            <a:off x="7962900" y="1924050"/>
            <a:ext cx="3048000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BB2C6E-733F-42B4-A615-787BA572F9F5}"/>
              </a:ext>
            </a:extLst>
          </p:cNvPr>
          <p:cNvSpPr>
            <a:spLocks noGrp="1"/>
          </p:cNvSpPr>
          <p:nvPr/>
        </p:nvSpPr>
        <p:spPr>
          <a:xfrm>
            <a:off x="7962900" y="1924050"/>
            <a:ext cx="3048000" cy="7620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66F271-9A4A-4AEC-9816-C67E1B2204D6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Biomedicine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01D38C-14EC-41CB-AB87-9C1DFBF47C97}"/>
              </a:ext>
            </a:extLst>
          </p:cNvPr>
          <p:cNvSpPr>
            <a:spLocks noGrp="1"/>
          </p:cNvSpPr>
          <p:nvPr/>
        </p:nvSpPr>
        <p:spPr>
          <a:xfrm>
            <a:off x="8172450" y="266700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rPr>
              <a:t>66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D9BDDA-DD89-4F69-9387-DDCAF2FAC2BD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CovidQA, PubMedQA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017A88-52EC-4AE2-9F9A-D6113EB48C1C}"/>
              </a:ext>
            </a:extLst>
          </p:cNvPr>
          <p:cNvSpPr>
            <a:spLocks noGrp="1"/>
          </p:cNvSpPr>
          <p:nvPr/>
        </p:nvSpPr>
        <p:spPr>
          <a:xfrm>
            <a:off x="1143000" y="4419600"/>
            <a:ext cx="9620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Each framework sees the same question-context-answer triples.</a:t>
            </a:r>
          </a:p>
          <a:p>
            <a:pPr algn="l">
              <a:defRPr sz="16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The stratified sample separates domain effects from framework behavior.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E56FF2-E460-4A32-A0A3-90E896D58634}"/>
              </a:ext>
            </a:extLst>
          </p:cNvPr>
          <p:cNvSpPr>
            <a:spLocks noGrp="1"/>
          </p:cNvSpPr>
          <p:nvPr/>
        </p:nvSpPr>
        <p:spPr>
          <a:xfrm>
            <a:off x="1143000" y="5505450"/>
            <a:ext cx="96202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39BF42-0C46-4485-A433-50E3768CB59E}"/>
              </a:ext>
            </a:extLst>
          </p:cNvPr>
          <p:cNvSpPr>
            <a:spLocks noGrp="1"/>
          </p:cNvSpPr>
          <p:nvPr/>
        </p:nvSpPr>
        <p:spPr>
          <a:xfrm>
            <a:off x="1143000" y="55054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FD6CFD-76CA-4A89-9C8D-56EB4D1979BC}"/>
              </a:ext>
            </a:extLst>
          </p:cNvPr>
          <p:cNvSpPr>
            <a:spLocks noGrp="1"/>
          </p:cNvSpPr>
          <p:nvPr/>
        </p:nvSpPr>
        <p:spPr>
          <a:xfrm>
            <a:off x="1314450" y="56292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Controlled by design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F40B6E-1C74-4968-8934-8B9779EA720D}"/>
              </a:ext>
            </a:extLst>
          </p:cNvPr>
          <p:cNvSpPr>
            <a:spLocks noGrp="1"/>
          </p:cNvSpPr>
          <p:nvPr/>
        </p:nvSpPr>
        <p:spPr>
          <a:xfrm>
            <a:off x="2990850" y="5619750"/>
            <a:ext cx="7600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Score differences can be studied under matched inputs.</a:t>
            </a:r>
          </a:p>
        </p:txBody>
      </p:sp>
    </p:spTree>
    <p:extLst>
      <p:ext uri="{BB962C8B-B14F-4D97-AF65-F5344CB8AC3E}">
        <p14:creationId xmlns:p14="http://schemas.microsoft.com/office/powerpoint/2010/main" val="54888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4E05A2A-573E-442C-90EA-050E4DB714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F0AEC4-3E5F-470D-A6BB-194E1E746F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32A725-6435-4D72-8E9F-F0257400AF52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6303-9C95-4ED1-BD41-C1D163C2376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C959DB-296E-4791-BCE4-ECDD3AB3EC43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analysis moves from scores to reliability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68599-E10E-4A9D-88D7-9D4062F1452A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9B7AB-50B6-4C1C-B5E9-A9F5FDAF5D08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A62940-DA76-4FD5-9D67-7A4AFA04FA4B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222885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234AD8-17DC-4A76-B7EC-214D46980907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F59852-F0CA-4E77-B312-11E38A74B4D7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Score matrix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852E0-A722-4E5C-9ECF-6D8318AD9DB6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Twenty primary scores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B0287D-15B2-4DD2-A4DF-CF11B79B8A86}"/>
              </a:ext>
            </a:extLst>
          </p:cNvPr>
          <p:cNvSpPr>
            <a:spLocks noGrp="1"/>
          </p:cNvSpPr>
          <p:nvPr/>
        </p:nvSpPr>
        <p:spPr>
          <a:xfrm>
            <a:off x="2990850" y="21907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CAAC99-F87B-4C7B-A904-75D4028C431E}"/>
              </a:ext>
            </a:extLst>
          </p:cNvPr>
          <p:cNvSpPr>
            <a:spLocks noGrp="1"/>
          </p:cNvSpPr>
          <p:nvPr/>
        </p:nvSpPr>
        <p:spPr>
          <a:xfrm>
            <a:off x="3390900" y="1790700"/>
            <a:ext cx="222885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DF8C28-01EE-4FE5-A3A0-10854B33E299}"/>
              </a:ext>
            </a:extLst>
          </p:cNvPr>
          <p:cNvSpPr>
            <a:spLocks noGrp="1"/>
          </p:cNvSpPr>
          <p:nvPr/>
        </p:nvSpPr>
        <p:spPr>
          <a:xfrm>
            <a:off x="3562350" y="19812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BCC918-0E73-45CA-A020-4C1AACA47A32}"/>
              </a:ext>
            </a:extLst>
          </p:cNvPr>
          <p:cNvSpPr>
            <a:spLocks noGrp="1"/>
          </p:cNvSpPr>
          <p:nvPr/>
        </p:nvSpPr>
        <p:spPr>
          <a:xfrm>
            <a:off x="3562350" y="22669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Agreement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E42EEF-7011-4B60-ADA3-FE7FAED56400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Correlations and heterogeneity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51E877-5723-4E16-B3DC-4AE1CE674178}"/>
              </a:ext>
            </a:extLst>
          </p:cNvPr>
          <p:cNvSpPr>
            <a:spLocks noGrp="1"/>
          </p:cNvSpPr>
          <p:nvPr/>
        </p:nvSpPr>
        <p:spPr>
          <a:xfrm>
            <a:off x="5676900" y="21907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7A4772-6B3E-4464-9934-6EDE58F7B79F}"/>
              </a:ext>
            </a:extLst>
          </p:cNvPr>
          <p:cNvSpPr>
            <a:spLocks noGrp="1"/>
          </p:cNvSpPr>
          <p:nvPr/>
        </p:nvSpPr>
        <p:spPr>
          <a:xfrm>
            <a:off x="6076950" y="1790700"/>
            <a:ext cx="222885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8F2BEC-BBBB-49E6-82FE-E5C0DDF53994}"/>
              </a:ext>
            </a:extLst>
          </p:cNvPr>
          <p:cNvSpPr>
            <a:spLocks noGrp="1"/>
          </p:cNvSpPr>
          <p:nvPr/>
        </p:nvSpPr>
        <p:spPr>
          <a:xfrm>
            <a:off x="6248400" y="19812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AF9CB4-C072-43C6-A413-264ABB9260FF}"/>
              </a:ext>
            </a:extLst>
          </p:cNvPr>
          <p:cNvSpPr>
            <a:spLocks noGrp="1"/>
          </p:cNvSpPr>
          <p:nvPr/>
        </p:nvSpPr>
        <p:spPr>
          <a:xfrm>
            <a:off x="6248400" y="22669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CDB762-9EC0-4255-BBCE-571D3D6380A8}"/>
              </a:ext>
            </a:extLst>
          </p:cNvPr>
          <p:cNvSpPr>
            <a:spLocks noGrp="1"/>
          </p:cNvSpPr>
          <p:nvPr/>
        </p:nvSpPr>
        <p:spPr>
          <a:xfrm>
            <a:off x="6248400" y="25908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Clusters and domains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073774-E575-4148-9272-29F2F36B49C9}"/>
              </a:ext>
            </a:extLst>
          </p:cNvPr>
          <p:cNvSpPr>
            <a:spLocks noGrp="1"/>
          </p:cNvSpPr>
          <p:nvPr/>
        </p:nvSpPr>
        <p:spPr>
          <a:xfrm>
            <a:off x="8362950" y="21907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EB9BB4-E4DD-4EE8-BD23-E8A9C44FD36B}"/>
              </a:ext>
            </a:extLst>
          </p:cNvPr>
          <p:cNvSpPr>
            <a:spLocks noGrp="1"/>
          </p:cNvSpPr>
          <p:nvPr/>
        </p:nvSpPr>
        <p:spPr>
          <a:xfrm>
            <a:off x="8763000" y="1790700"/>
            <a:ext cx="222885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33814A-4D75-4DFD-B39C-F93EA3F8A30B}"/>
              </a:ext>
            </a:extLst>
          </p:cNvPr>
          <p:cNvSpPr>
            <a:spLocks noGrp="1"/>
          </p:cNvSpPr>
          <p:nvPr/>
        </p:nvSpPr>
        <p:spPr>
          <a:xfrm>
            <a:off x="8934450" y="19812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FA0AE5-D330-4627-9C9F-CCF449619394}"/>
              </a:ext>
            </a:extLst>
          </p:cNvPr>
          <p:cNvSpPr>
            <a:spLocks noGrp="1"/>
          </p:cNvSpPr>
          <p:nvPr/>
        </p:nvSpPr>
        <p:spPr>
          <a:xfrm>
            <a:off x="8934450" y="22669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679BC5-2771-4E6F-B650-671D9DF5B668}"/>
              </a:ext>
            </a:extLst>
          </p:cNvPr>
          <p:cNvSpPr>
            <a:spLocks noGrp="1"/>
          </p:cNvSpPr>
          <p:nvPr/>
        </p:nvSpPr>
        <p:spPr>
          <a:xfrm>
            <a:off x="8934450" y="25908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Human subset and consensus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1E4E6B-676B-4CCE-988F-071661E68591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4972050" cy="2190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DC4338-49E8-4E32-A1C1-EB4FA524E397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76200" cy="2190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75313A-7874-4D12-A7D1-09E93302CB06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86CE19-0417-499F-A229-51DECA7D2EF1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4381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Official default configurations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DeepSeek-V3 judge at temperature 0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DeBERTa-v3-large for NLI methods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Primary scores min-max normalized to [0, 1]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4427EF-15A2-4DEB-A99D-A1909531D0C8}"/>
              </a:ext>
            </a:extLst>
          </p:cNvPr>
          <p:cNvSpPr>
            <a:spLocks noGrp="1"/>
          </p:cNvSpPr>
          <p:nvPr/>
        </p:nvSpPr>
        <p:spPr>
          <a:xfrm>
            <a:off x="6115050" y="3390900"/>
            <a:ext cx="5295900" cy="2190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521F5F-51E1-4663-BE2B-55186F2CA2B9}"/>
              </a:ext>
            </a:extLst>
          </p:cNvPr>
          <p:cNvSpPr>
            <a:spLocks noGrp="1"/>
          </p:cNvSpPr>
          <p:nvPr/>
        </p:nvSpPr>
        <p:spPr>
          <a:xfrm>
            <a:off x="6115050" y="3390900"/>
            <a:ext cx="76200" cy="2190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C4976B-4F51-4C3A-8C9C-8028176F7909}"/>
              </a:ext>
            </a:extLst>
          </p:cNvPr>
          <p:cNvSpPr>
            <a:spLocks noGrp="1"/>
          </p:cNvSpPr>
          <p:nvPr/>
        </p:nvSpPr>
        <p:spPr>
          <a:xfrm>
            <a:off x="6362700" y="36576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71ABB2-B677-4E9A-B06B-13EB572A1DDE}"/>
              </a:ext>
            </a:extLst>
          </p:cNvPr>
          <p:cNvSpPr>
            <a:spLocks noGrp="1"/>
          </p:cNvSpPr>
          <p:nvPr/>
        </p:nvSpPr>
        <p:spPr>
          <a:xfrm>
            <a:off x="6362700" y="4057650"/>
            <a:ext cx="46863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Pearson and Spearman with 1,000 bootstrap resamples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Cochran's Q and I-squared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Ward clustering and domain effects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Cross-cluster consensus and human validation</a:t>
            </a:r>
          </a:p>
        </p:txBody>
      </p:sp>
    </p:spTree>
    <p:extLst>
      <p:ext uri="{BB962C8B-B14F-4D97-AF65-F5344CB8AC3E}">
        <p14:creationId xmlns:p14="http://schemas.microsoft.com/office/powerpoint/2010/main" val="29440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73E6F19-3138-4677-94AB-3B31C69E74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9D9A6-E13C-4A3B-B394-1E70B1C42D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5DDF75-C9DC-4EDD-89CA-9CB4D3B5590F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FB82B4-8045-4E74-9D29-07ECFE5142C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1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5C5D7F-A4E3-40B5-B6DF-65E8CFB376AE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Inter-framework heterogeneity is substantial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E02D71-89BE-4A96-8A88-3AB57C6A3473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89C1F-1F58-49AC-93BB-8EAB7D0776BA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99059E-A394-46B7-9A66-25CAA585F62F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2324100" cy="8763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1EB402-A55F-465B-AC83-8A8D057FC140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10,055.63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2B4283-CD31-437D-ACCB-5F05251E24ED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COCHRAN'S Q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6E3D78-764D-4F71-BF5A-A2429AF66B2F}"/>
              </a:ext>
            </a:extLst>
          </p:cNvPr>
          <p:cNvSpPr>
            <a:spLocks noGrp="1"/>
          </p:cNvSpPr>
          <p:nvPr/>
        </p:nvSpPr>
        <p:spPr>
          <a:xfrm>
            <a:off x="3276600" y="1524000"/>
            <a:ext cx="2000250" cy="8763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7422B7-69C2-472B-AAD5-66DE18430594}"/>
              </a:ext>
            </a:extLst>
          </p:cNvPr>
          <p:cNvSpPr>
            <a:spLocks noGrp="1"/>
          </p:cNvSpPr>
          <p:nvPr/>
        </p:nvSpPr>
        <p:spPr>
          <a:xfrm>
            <a:off x="3390900" y="1657350"/>
            <a:ext cx="177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99.81%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CE8DD9-3F1A-4601-BD8B-3849EA83741B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1771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I-SQUARED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BD6B09-5B05-4FC1-932B-5AE661D9782E}"/>
              </a:ext>
            </a:extLst>
          </p:cNvPr>
          <p:cNvSpPr>
            <a:spLocks noGrp="1"/>
          </p:cNvSpPr>
          <p:nvPr/>
        </p:nvSpPr>
        <p:spPr>
          <a:xfrm>
            <a:off x="5524500" y="1524000"/>
            <a:ext cx="2000250" cy="8763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D5B65B-F8F0-4416-9CC1-2FBCB95BDFF6}"/>
              </a:ext>
            </a:extLst>
          </p:cNvPr>
          <p:cNvSpPr>
            <a:spLocks noGrp="1"/>
          </p:cNvSpPr>
          <p:nvPr/>
        </p:nvSpPr>
        <p:spPr>
          <a:xfrm>
            <a:off x="5638800" y="1657350"/>
            <a:ext cx="177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167 / 190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DFC344-A90E-46BC-9D91-0C47BC5EB2DA}"/>
              </a:ext>
            </a:extLst>
          </p:cNvPr>
          <p:cNvSpPr>
            <a:spLocks noGrp="1"/>
          </p:cNvSpPr>
          <p:nvPr/>
        </p:nvSpPr>
        <p:spPr>
          <a:xfrm>
            <a:off x="5638800" y="2076450"/>
            <a:ext cx="1771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PAIRS DIFFER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113CB0-2BB0-423F-8463-CA17F9A065E2}"/>
              </a:ext>
            </a:extLst>
          </p:cNvPr>
          <p:cNvSpPr>
            <a:spLocks noGrp="1"/>
          </p:cNvSpPr>
          <p:nvPr/>
        </p:nvSpPr>
        <p:spPr>
          <a:xfrm>
            <a:off x="7772400" y="1524000"/>
            <a:ext cx="2190750" cy="8763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F49F1-74F0-48B5-8FFA-FF018585AD71}"/>
              </a:ext>
            </a:extLst>
          </p:cNvPr>
          <p:cNvSpPr>
            <a:spLocks noGrp="1"/>
          </p:cNvSpPr>
          <p:nvPr/>
        </p:nvSpPr>
        <p:spPr>
          <a:xfrm>
            <a:off x="7886700" y="1657350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rPr>
              <a:t>0.980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BD66E7-0BC4-4FDB-88CD-08D399931057}"/>
              </a:ext>
            </a:extLst>
          </p:cNvPr>
          <p:cNvSpPr>
            <a:spLocks noGrp="1"/>
          </p:cNvSpPr>
          <p:nvPr/>
        </p:nvSpPr>
        <p:spPr>
          <a:xfrm>
            <a:off x="7886700" y="20764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MEAN SCORE RANGE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2744" y="2733675"/>
            <a:ext cx="4539806" cy="26098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55715" y="2667001"/>
            <a:ext cx="5231335" cy="260984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A29EB8C-0900-488B-9252-BF6D5D270B91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459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Forest plot from the paper appendix.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CC6D17-4267-470B-84EA-10DF778E3FE6}"/>
              </a:ext>
            </a:extLst>
          </p:cNvPr>
          <p:cNvSpPr>
            <a:spLocks noGrp="1"/>
          </p:cNvSpPr>
          <p:nvPr/>
        </p:nvSpPr>
        <p:spPr>
          <a:xfrm>
            <a:off x="5867400" y="5429250"/>
            <a:ext cx="481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Per-sample disagreement analysis from the paper appendix.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F0554E-C5C1-47B4-9D7E-B6E23B4B6D33}"/>
              </a:ext>
            </a:extLst>
          </p:cNvPr>
          <p:cNvSpPr>
            <a:spLocks noGrp="1"/>
          </p:cNvSpPr>
          <p:nvPr/>
        </p:nvSpPr>
        <p:spPr>
          <a:xfrm>
            <a:off x="742950" y="5848350"/>
            <a:ext cx="99441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568037-2C86-46FB-A83A-79858ABC2A82}"/>
              </a:ext>
            </a:extLst>
          </p:cNvPr>
          <p:cNvSpPr>
            <a:spLocks noGrp="1"/>
          </p:cNvSpPr>
          <p:nvPr/>
        </p:nvSpPr>
        <p:spPr>
          <a:xfrm>
            <a:off x="742950" y="58483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B5C07D-9D57-41C3-8669-89423F2935ED}"/>
              </a:ext>
            </a:extLst>
          </p:cNvPr>
          <p:cNvSpPr>
            <a:spLocks noGrp="1"/>
          </p:cNvSpPr>
          <p:nvPr/>
        </p:nvSpPr>
        <p:spPr>
          <a:xfrm>
            <a:off x="914400" y="59721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306ACD-F0A4-42A6-B6E4-C27E97684CE3}"/>
              </a:ext>
            </a:extLst>
          </p:cNvPr>
          <p:cNvSpPr>
            <a:spLocks noGrp="1"/>
          </p:cNvSpPr>
          <p:nvPr/>
        </p:nvSpPr>
        <p:spPr>
          <a:xfrm>
            <a:off x="2590800" y="5962650"/>
            <a:ext cx="7924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Framework choice materially changes the score observed on identical samples.</a:t>
            </a:r>
          </a:p>
        </p:txBody>
      </p:sp>
    </p:spTree>
    <p:extLst>
      <p:ext uri="{BB962C8B-B14F-4D97-AF65-F5344CB8AC3E}">
        <p14:creationId xmlns:p14="http://schemas.microsoft.com/office/powerpoint/2010/main" val="2137791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ECD44D-7C4A-4A1F-8054-27C5EC6AD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9B329E-9DCB-4C21-B0F0-F204B96CFD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A34FDD-5804-4FD0-B998-D649EF12C80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B679D-87F7-4904-9AA4-25091EFD4D7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2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C79F3-0949-450B-B566-4352F224B68B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Pairwise correlations range from -0.28 to 0.90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0A2B4F-2E1E-445E-87D0-3B3D536EBBEA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C6F4A-93DF-44D6-B137-D54797DB5FC4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666526-D6A3-4886-883C-0A358AD9376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905250" cy="3771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7D5314-FDC1-4CA4-9732-D5E4F9FC352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37719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95C3A1-31F8-4E9C-A979-0743B831DF87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33147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Minimum: BERTScore versus MetaRAG, r = -0.28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Maximum: TRACe versus ARES, r = 0.90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Median pairwise Pearson correlation is 0.21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The heatmap shows block structure, not one agreement pattern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5437" y="1276350"/>
            <a:ext cx="5332563" cy="42100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1D267C5-58A2-4232-9A28-30668FEF8367}"/>
              </a:ext>
            </a:extLst>
          </p:cNvPr>
          <p:cNvSpPr>
            <a:spLocks noGrp="1"/>
          </p:cNvSpPr>
          <p:nvPr/>
        </p:nvSpPr>
        <p:spPr>
          <a:xfrm>
            <a:off x="5067300" y="5734050"/>
            <a:ext cx="596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Pairwise Pearson correlation across twenty frameworks.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5C95B-6E7E-4880-B498-930DDAFF208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3441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3EB8C2-BE9E-4D5C-B4A4-30E14F7AB72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520A94-3102-448C-8793-0DE84FF21AE7}"/>
              </a:ext>
            </a:extLst>
          </p:cNvPr>
          <p:cNvSpPr>
            <a:spLocks noGrp="1"/>
          </p:cNvSpPr>
          <p:nvPr/>
        </p:nvSpPr>
        <p:spPr>
          <a:xfrm>
            <a:off x="857250" y="59912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A319FC-B8D8-41A4-BB0D-9CD741EC7835}"/>
              </a:ext>
            </a:extLst>
          </p:cNvPr>
          <p:cNvSpPr>
            <a:spLocks noGrp="1"/>
          </p:cNvSpPr>
          <p:nvPr/>
        </p:nvSpPr>
        <p:spPr>
          <a:xfrm>
            <a:off x="2533650" y="5981700"/>
            <a:ext cx="8324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High agreement is local to some pairs, not the full ecosystem.</a:t>
            </a:r>
          </a:p>
        </p:txBody>
      </p:sp>
    </p:spTree>
    <p:extLst>
      <p:ext uri="{BB962C8B-B14F-4D97-AF65-F5344CB8AC3E}">
        <p14:creationId xmlns:p14="http://schemas.microsoft.com/office/powerpoint/2010/main" val="953375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59FADA-1719-4E0F-96B8-4D3F2F1A3B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5B5902-341E-4A66-9D55-8093B97F79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28189-3596-4A4C-8423-119DADDD76B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E647DD-7450-42F5-A6A7-B07846AD28F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3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7F3954-868B-45A0-A174-CF3FD0DC9440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Binary agreement confirms the score pattern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B74470-C622-4524-B767-7BB5A1C287F8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52B456-E48B-400A-B608-7D916350C279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3184E7-0966-45E9-B7EE-5FE8C74F872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829050" cy="3829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31489-ACE4-41CB-9FD3-EED0B6CBB60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38290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ACCAC4-58B5-4C36-9F6F-9996E7BC7259}"/>
              </a:ext>
            </a:extLst>
          </p:cNvPr>
          <p:cNvSpPr>
            <a:spLocks noGrp="1"/>
          </p:cNvSpPr>
          <p:nvPr/>
        </p:nvSpPr>
        <p:spPr>
          <a:xfrm>
            <a:off x="933450" y="2190750"/>
            <a:ext cx="31813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Scores are binarized at threshold 0.5.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ARES and UniEval reach kappa = 0.69 with 90% raw agreement.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RAGChecker or QAFactEval pairs with LLM-judge methods yield kappa at or below 0.001.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54565" y="1326314"/>
            <a:ext cx="4757258" cy="420537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7D30FBA-0081-4900-B350-95E1A2645175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5753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Pairwise Cohen's kappa from the paper appendix.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29C72B-E4C7-4C4A-9170-2E3D0B897A2A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01917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D7267C-2E86-4AF3-A1DF-321372391F07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7358A-8CEE-4FE2-B425-E98E321EF43A}"/>
              </a:ext>
            </a:extLst>
          </p:cNvPr>
          <p:cNvSpPr>
            <a:spLocks noGrp="1"/>
          </p:cNvSpPr>
          <p:nvPr/>
        </p:nvSpPr>
        <p:spPr>
          <a:xfrm>
            <a:off x="857250" y="60674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6E80B7-E5F6-4040-97C4-261C99ED42B3}"/>
              </a:ext>
            </a:extLst>
          </p:cNvPr>
          <p:cNvSpPr>
            <a:spLocks noGrp="1"/>
          </p:cNvSpPr>
          <p:nvPr/>
        </p:nvSpPr>
        <p:spPr>
          <a:xfrm>
            <a:off x="2533650" y="6057900"/>
            <a:ext cx="8172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Disagreement remains after scores become faithful or unfaithful verdicts.</a:t>
            </a:r>
          </a:p>
        </p:txBody>
      </p:sp>
    </p:spTree>
    <p:extLst>
      <p:ext uri="{BB962C8B-B14F-4D97-AF65-F5344CB8AC3E}">
        <p14:creationId xmlns:p14="http://schemas.microsoft.com/office/powerpoint/2010/main" val="2041238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15D0B836-DC3D-4CA2-924C-EDCB8DE87D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73A926-E5CF-479E-AFD1-0EE96AFD6F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0298B4-E7D0-44D2-85FA-CA461A6F7F5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DC7A2-1179-40E3-B3B6-9D9AD882144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4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280FE-22F7-490D-A381-C27F21257A67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frameworks form three empirical clusters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CDFE31-1134-4772-9F64-8F97A6D3C20D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526706-8354-4FE0-A9E0-1B97303A2BD8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70F6A-E099-40F0-8CB2-11A51A293336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5295900" cy="552450"/>
          </a:xfrm>
          <a:prstGeom prst="rect">
            <a:avLst/>
          </a:prstGeom>
          <a:solidFill>
            <a:srgbClr val="002147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AF4688-3B32-4336-97FD-C93A641B5779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6EFB70-F465-4E6E-AA72-B15E7163E6C3}"/>
              </a:ext>
            </a:extLst>
          </p:cNvPr>
          <p:cNvSpPr>
            <a:spLocks noGrp="1"/>
          </p:cNvSpPr>
          <p:nvPr/>
        </p:nvSpPr>
        <p:spPr>
          <a:xfrm>
            <a:off x="3752850" y="203835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D1C1F9-D086-4917-ADC4-DA75C0B3C49C}"/>
              </a:ext>
            </a:extLst>
          </p:cNvPr>
          <p:cNvSpPr>
            <a:spLocks noGrp="1"/>
          </p:cNvSpPr>
          <p:nvPr/>
        </p:nvSpPr>
        <p:spPr>
          <a:xfrm>
            <a:off x="4648200" y="20383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Within 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720F7E-22E3-42F5-8598-77AC2F969DE9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5295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695560-9D1A-4FBA-A5D1-4184F739CDA1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LLM-as-Judge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C81E8-5286-4233-9650-D670D103185C}"/>
              </a:ext>
            </a:extLst>
          </p:cNvPr>
          <p:cNvSpPr>
            <a:spLocks noGrp="1"/>
          </p:cNvSpPr>
          <p:nvPr/>
        </p:nvSpPr>
        <p:spPr>
          <a:xfrm>
            <a:off x="3752850" y="259080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16B292-9419-4670-95AE-94940170BF00}"/>
              </a:ext>
            </a:extLst>
          </p:cNvPr>
          <p:cNvSpPr>
            <a:spLocks noGrp="1"/>
          </p:cNvSpPr>
          <p:nvPr/>
        </p:nvSpPr>
        <p:spPr>
          <a:xfrm>
            <a:off x="4648200" y="259080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69CEC5-C482-468A-9E87-B97F0CAEE32E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5295900" cy="5524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BE5B43-1703-415E-9484-7D8C4902FD10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Mixed Methods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CEC1C2-E70F-446C-B2BA-6B4CE362DBF2}"/>
              </a:ext>
            </a:extLst>
          </p:cNvPr>
          <p:cNvSpPr>
            <a:spLocks noGrp="1"/>
          </p:cNvSpPr>
          <p:nvPr/>
        </p:nvSpPr>
        <p:spPr>
          <a:xfrm>
            <a:off x="3752850" y="314325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CDEF60-4DB8-483C-81EC-F31CF06204F6}"/>
              </a:ext>
            </a:extLst>
          </p:cNvPr>
          <p:cNvSpPr>
            <a:spLocks noGrp="1"/>
          </p:cNvSpPr>
          <p:nvPr/>
        </p:nvSpPr>
        <p:spPr>
          <a:xfrm>
            <a:off x="4648200" y="31432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0.63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ECE7C9-3067-429C-A783-54CC0FB3E692}"/>
              </a:ext>
            </a:extLst>
          </p:cNvPr>
          <p:cNvSpPr>
            <a:spLocks noGrp="1"/>
          </p:cNvSpPr>
          <p:nvPr/>
        </p:nvSpPr>
        <p:spPr>
          <a:xfrm>
            <a:off x="704850" y="3581400"/>
            <a:ext cx="5295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A8D916-2D0F-4215-A5C7-2819F35C6446}"/>
              </a:ext>
            </a:extLst>
          </p:cNvPr>
          <p:cNvSpPr>
            <a:spLocks noGrp="1"/>
          </p:cNvSpPr>
          <p:nvPr/>
        </p:nvSpPr>
        <p:spPr>
          <a:xfrm>
            <a:off x="800100" y="36957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Outlier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BA2A21-E8F5-45CB-88BF-AE467156C817}"/>
              </a:ext>
            </a:extLst>
          </p:cNvPr>
          <p:cNvSpPr>
            <a:spLocks noGrp="1"/>
          </p:cNvSpPr>
          <p:nvPr/>
        </p:nvSpPr>
        <p:spPr>
          <a:xfrm>
            <a:off x="3752850" y="369570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24695C-520A-4DAC-A020-1D381F4C76DE}"/>
              </a:ext>
            </a:extLst>
          </p:cNvPr>
          <p:cNvSpPr>
            <a:spLocks noGrp="1"/>
          </p:cNvSpPr>
          <p:nvPr/>
        </p:nvSpPr>
        <p:spPr>
          <a:xfrm>
            <a:off x="4648200" y="369570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0.01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9E6498-DBF2-4774-8B19-C209B36D9B2D}"/>
              </a:ext>
            </a:extLst>
          </p:cNvPr>
          <p:cNvSpPr>
            <a:spLocks noGrp="1"/>
          </p:cNvSpPr>
          <p:nvPr/>
        </p:nvSpPr>
        <p:spPr>
          <a:xfrm>
            <a:off x="704850" y="4133850"/>
            <a:ext cx="5295900" cy="5524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ED8AAF-7E6A-4636-8D07-05AAFF339BA6}"/>
              </a:ext>
            </a:extLst>
          </p:cNvPr>
          <p:cNvSpPr>
            <a:spLocks noGrp="1"/>
          </p:cNvSpPr>
          <p:nvPr/>
        </p:nvSpPr>
        <p:spPr>
          <a:xfrm>
            <a:off x="800100" y="42481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Between clusters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6E9C95-8EC2-461C-93BF-41461AFB9BBC}"/>
              </a:ext>
            </a:extLst>
          </p:cNvPr>
          <p:cNvSpPr>
            <a:spLocks noGrp="1"/>
          </p:cNvSpPr>
          <p:nvPr/>
        </p:nvSpPr>
        <p:spPr>
          <a:xfrm>
            <a:off x="3752850" y="424815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67DD73-E3E7-4439-BE2D-2BB875AE6291}"/>
              </a:ext>
            </a:extLst>
          </p:cNvPr>
          <p:cNvSpPr>
            <a:spLocks noGrp="1"/>
          </p:cNvSpPr>
          <p:nvPr/>
        </p:nvSpPr>
        <p:spPr>
          <a:xfrm>
            <a:off x="4648200" y="42481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0.10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E42B42-E0C3-4A64-8D0C-F8C7130754D9}"/>
              </a:ext>
            </a:extLst>
          </p:cNvPr>
          <p:cNvSpPr>
            <a:spLocks noGrp="1"/>
          </p:cNvSpPr>
          <p:nvPr/>
        </p:nvSpPr>
        <p:spPr>
          <a:xfrm>
            <a:off x="6667500" y="1847850"/>
            <a:ext cx="4076700" cy="10858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BBF813-FA19-4C85-AC40-4B9E9E395EF3}"/>
              </a:ext>
            </a:extLst>
          </p:cNvPr>
          <p:cNvSpPr>
            <a:spLocks noGrp="1"/>
          </p:cNvSpPr>
          <p:nvPr/>
        </p:nvSpPr>
        <p:spPr>
          <a:xfrm>
            <a:off x="6667500" y="1847850"/>
            <a:ext cx="407670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D4981-BD96-40BD-A4DE-FD3339A196C1}"/>
              </a:ext>
            </a:extLst>
          </p:cNvPr>
          <p:cNvSpPr>
            <a:spLocks noGrp="1"/>
          </p:cNvSpPr>
          <p:nvPr/>
        </p:nvSpPr>
        <p:spPr>
          <a:xfrm>
            <a:off x="6838950" y="2019300"/>
            <a:ext cx="3733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Normalization check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370829-944D-4C15-9D8D-E8A8DA3F572B}"/>
              </a:ext>
            </a:extLst>
          </p:cNvPr>
          <p:cNvSpPr>
            <a:spLocks noGrp="1"/>
          </p:cNvSpPr>
          <p:nvPr/>
        </p:nvSpPr>
        <p:spPr>
          <a:xfrm>
            <a:off x="6838950" y="2324100"/>
            <a:ext cx="3733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Raw, min-max, z-score, and rank transformations return identical cluster assignments. Pairwise ARI is 1.0.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CD7EB2-C42C-4896-BCBD-4C1F45E2B7FE}"/>
              </a:ext>
            </a:extLst>
          </p:cNvPr>
          <p:cNvSpPr>
            <a:spLocks noGrp="1"/>
          </p:cNvSpPr>
          <p:nvPr/>
        </p:nvSpPr>
        <p:spPr>
          <a:xfrm>
            <a:off x="6667500" y="3124200"/>
            <a:ext cx="4076700" cy="12382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7F559C-5133-4B18-9A06-AA55FF1ACE72}"/>
              </a:ext>
            </a:extLst>
          </p:cNvPr>
          <p:cNvSpPr>
            <a:spLocks noGrp="1"/>
          </p:cNvSpPr>
          <p:nvPr/>
        </p:nvSpPr>
        <p:spPr>
          <a:xfrm>
            <a:off x="6667500" y="3124200"/>
            <a:ext cx="4076700" cy="571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8CAA0C-9A75-4379-986C-78A358861415}"/>
              </a:ext>
            </a:extLst>
          </p:cNvPr>
          <p:cNvSpPr>
            <a:spLocks noGrp="1"/>
          </p:cNvSpPr>
          <p:nvPr/>
        </p:nvSpPr>
        <p:spPr>
          <a:xfrm>
            <a:off x="6838950" y="3295650"/>
            <a:ext cx="3733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Cluster count check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6B9765-FE35-4ED0-8CD3-9B590E644F38}"/>
              </a:ext>
            </a:extLst>
          </p:cNvPr>
          <p:cNvSpPr>
            <a:spLocks noGrp="1"/>
          </p:cNvSpPr>
          <p:nvPr/>
        </p:nvSpPr>
        <p:spPr>
          <a:xfrm>
            <a:off x="6838950" y="3600450"/>
            <a:ext cx="3733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The gap statistic peaks at k = 3. Bootstrap co-assignment is at least 0.75 in the LLM-as-judge and mixed-methods clusters.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7EE1DF-3B6E-4B54-91E5-B60BE0D92E98}"/>
              </a:ext>
            </a:extLst>
          </p:cNvPr>
          <p:cNvSpPr>
            <a:spLocks noGrp="1"/>
          </p:cNvSpPr>
          <p:nvPr/>
        </p:nvSpPr>
        <p:spPr>
          <a:xfrm>
            <a:off x="6667500" y="4552950"/>
            <a:ext cx="4076700" cy="10287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3B5F1F-6229-4A43-86CE-CCB1A2105D9F}"/>
              </a:ext>
            </a:extLst>
          </p:cNvPr>
          <p:cNvSpPr>
            <a:spLocks noGrp="1"/>
          </p:cNvSpPr>
          <p:nvPr/>
        </p:nvSpPr>
        <p:spPr>
          <a:xfrm>
            <a:off x="6667500" y="4552950"/>
            <a:ext cx="4076700" cy="571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21D056-EB64-4385-AB9C-64544C50036E}"/>
              </a:ext>
            </a:extLst>
          </p:cNvPr>
          <p:cNvSpPr>
            <a:spLocks noGrp="1"/>
          </p:cNvSpPr>
          <p:nvPr/>
        </p:nvSpPr>
        <p:spPr>
          <a:xfrm>
            <a:off x="6838950" y="4724400"/>
            <a:ext cx="3733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Outlier group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3959CE-EC0B-40FD-8D53-2A2007FF7471}"/>
              </a:ext>
            </a:extLst>
          </p:cNvPr>
          <p:cNvSpPr>
            <a:spLocks noGrp="1"/>
          </p:cNvSpPr>
          <p:nvPr/>
        </p:nvSpPr>
        <p:spPr>
          <a:xfrm>
            <a:off x="6838950" y="5029200"/>
            <a:ext cx="3733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BERTScore, GaRAGe, HALT-RAG, QAFactEval, and RAGChecker.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CA7B54-0424-4C4D-AEBC-F0CB402EA3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100393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3A46A7-40A4-4375-803C-7CEAE1031BD7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FD75A7-E05C-4D63-9494-0F40C01C2976}"/>
              </a:ext>
            </a:extLst>
          </p:cNvPr>
          <p:cNvSpPr>
            <a:spLocks noGrp="1"/>
          </p:cNvSpPr>
          <p:nvPr/>
        </p:nvSpPr>
        <p:spPr>
          <a:xfrm>
            <a:off x="876300" y="60102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CDA927-810D-4893-ABCB-6D82B4563D75}"/>
              </a:ext>
            </a:extLst>
          </p:cNvPr>
          <p:cNvSpPr>
            <a:spLocks noGrp="1"/>
          </p:cNvSpPr>
          <p:nvPr/>
        </p:nvSpPr>
        <p:spPr>
          <a:xfrm>
            <a:off x="2552700" y="6000750"/>
            <a:ext cx="802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paper reports a stable three-cluster pattern across score transformations.</a:t>
            </a:r>
          </a:p>
        </p:txBody>
      </p:sp>
    </p:spTree>
    <p:extLst>
      <p:ext uri="{BB962C8B-B14F-4D97-AF65-F5344CB8AC3E}">
        <p14:creationId xmlns:p14="http://schemas.microsoft.com/office/powerpoint/2010/main" val="2072656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09DA58D-B5B2-424B-8703-205FF1FBC5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DF2C63-BA86-4AD7-B89D-43C1CE3A35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4AAB2-1866-40A3-9D7D-355CBB43F71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4448F7-B6C3-4D5F-8733-26E1B922C00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5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3F496B-5D06-4C02-B02C-1BB8A4745D42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Domain difficulty depends on the method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C7BF6-80C0-4FCE-877F-DB64622E1370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6B1128-F6A4-4FFF-B4CF-E685B94B6F7D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26722-6B62-45BF-9E4A-726AF8CE5D2D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986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Largest reported eta-squared effects: KG-RAG 0.225, MetaRAG 0.222, TRACe 0.198, ARES 0.190.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9391" y="2064183"/>
            <a:ext cx="5498509" cy="27296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0" y="2152650"/>
            <a:ext cx="5694442" cy="24193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6D7F80-3979-4CD6-BF18-7DC9E699B6E4}"/>
              </a:ext>
            </a:extLst>
          </p:cNvPr>
          <p:cNvSpPr>
            <a:spLocks noGrp="1"/>
          </p:cNvSpPr>
          <p:nvPr/>
        </p:nvSpPr>
        <p:spPr>
          <a:xfrm>
            <a:off x="723900" y="5295900"/>
            <a:ext cx="493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Mean score by domain.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7DE2A-156E-444C-929F-4CD8FE117030}"/>
              </a:ext>
            </a:extLst>
          </p:cNvPr>
          <p:cNvSpPr>
            <a:spLocks noGrp="1"/>
          </p:cNvSpPr>
          <p:nvPr/>
        </p:nvSpPr>
        <p:spPr>
          <a:xfrm>
            <a:off x="6057900" y="5295900"/>
            <a:ext cx="474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Representative domain score distributions.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5C2C1-ED49-41CA-9E42-4C97A9ECBD7C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100774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DAE537-A639-451F-89AB-C96B7D0C9DB4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989013-4074-4478-8490-8722CD77F405}"/>
              </a:ext>
            </a:extLst>
          </p:cNvPr>
          <p:cNvSpPr>
            <a:spLocks noGrp="1"/>
          </p:cNvSpPr>
          <p:nvPr/>
        </p:nvSpPr>
        <p:spPr>
          <a:xfrm>
            <a:off x="895350" y="59721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63B62B-7330-479E-B3D3-6F5971BC33CD}"/>
              </a:ext>
            </a:extLst>
          </p:cNvPr>
          <p:cNvSpPr>
            <a:spLocks noGrp="1"/>
          </p:cNvSpPr>
          <p:nvPr/>
        </p:nvSpPr>
        <p:spPr>
          <a:xfrm>
            <a:off x="2571750" y="5962650"/>
            <a:ext cx="8058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Finance scores lower for most frameworks, while domain effect size depends on the framework.</a:t>
            </a:r>
          </a:p>
        </p:txBody>
      </p:sp>
    </p:spTree>
    <p:extLst>
      <p:ext uri="{BB962C8B-B14F-4D97-AF65-F5344CB8AC3E}">
        <p14:creationId xmlns:p14="http://schemas.microsoft.com/office/powerpoint/2010/main" val="10734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D119C25-51B1-4A2E-AB57-5D0F91FB8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9B3BE1-BD5B-4670-9C90-67144A7B30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18DF3-6BA1-415E-A4AE-E4BA481DA0F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B5DD0-55BE-490E-804C-63803DB9E33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6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82B9FA-1E3E-4BC2-9108-D637A87F7046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human subset favors the LLM-as-judge cluster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065D7-A309-42A0-B412-AEE67A9FF7E4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4B66B0-6D15-45CB-8168-45AD3EE20643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13A20E-B05D-4A3A-9C9C-93693121A820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4400550" cy="3143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02A752-73EC-463D-8D79-4D9EBCA6DA78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76200" cy="31432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485C24-E293-4AB8-985D-1FB9CB7CB7DA}"/>
              </a:ext>
            </a:extLst>
          </p:cNvPr>
          <p:cNvSpPr>
            <a:spLocks noGrp="1"/>
          </p:cNvSpPr>
          <p:nvPr/>
        </p:nvSpPr>
        <p:spPr>
          <a:xfrm>
            <a:off x="971550" y="2247900"/>
            <a:ext cx="37338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LLM-as-Judge cluster mean r = 0.51.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FaithJudge r = 0.596 and G-Eval r = 0.564.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Mixed Methods cluster mean r = 0.19.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Outlier cluster mean r = 0.05.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4915AF-A471-4911-811B-0224A86062F4}"/>
              </a:ext>
            </a:extLst>
          </p:cNvPr>
          <p:cNvSpPr>
            <a:spLocks noGrp="1"/>
          </p:cNvSpPr>
          <p:nvPr/>
        </p:nvSpPr>
        <p:spPr>
          <a:xfrm>
            <a:off x="5867400" y="2038350"/>
            <a:ext cx="5962650" cy="590550"/>
          </a:xfrm>
          <a:prstGeom prst="rect">
            <a:avLst/>
          </a:prstGeom>
          <a:solidFill>
            <a:srgbClr val="002147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FFC34-FDD6-4948-99A8-AEA460D3FFC5}"/>
              </a:ext>
            </a:extLst>
          </p:cNvPr>
          <p:cNvSpPr>
            <a:spLocks noGrp="1"/>
          </p:cNvSpPr>
          <p:nvPr/>
        </p:nvSpPr>
        <p:spPr>
          <a:xfrm>
            <a:off x="5962650" y="21526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93683A-AE3D-4D1F-AC8D-CD2F08F306FD}"/>
              </a:ext>
            </a:extLst>
          </p:cNvPr>
          <p:cNvSpPr>
            <a:spLocks noGrp="1"/>
          </p:cNvSpPr>
          <p:nvPr/>
        </p:nvSpPr>
        <p:spPr>
          <a:xfrm>
            <a:off x="8058150" y="2152650"/>
            <a:ext cx="933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 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E4431-DA8E-40F2-AF27-959A7D4AE816}"/>
              </a:ext>
            </a:extLst>
          </p:cNvPr>
          <p:cNvSpPr>
            <a:spLocks noGrp="1"/>
          </p:cNvSpPr>
          <p:nvPr/>
        </p:nvSpPr>
        <p:spPr>
          <a:xfrm>
            <a:off x="9182100" y="2152650"/>
            <a:ext cx="2552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Highest reported 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6266D9-5B00-4078-9AAE-02D0E9A45E39}"/>
              </a:ext>
            </a:extLst>
          </p:cNvPr>
          <p:cNvSpPr>
            <a:spLocks noGrp="1"/>
          </p:cNvSpPr>
          <p:nvPr/>
        </p:nvSpPr>
        <p:spPr>
          <a:xfrm>
            <a:off x="5867400" y="2628900"/>
            <a:ext cx="59626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75AA6E-2501-4D0E-8F7E-FDCECDD80518}"/>
              </a:ext>
            </a:extLst>
          </p:cNvPr>
          <p:cNvSpPr>
            <a:spLocks noGrp="1"/>
          </p:cNvSpPr>
          <p:nvPr/>
        </p:nvSpPr>
        <p:spPr>
          <a:xfrm>
            <a:off x="5962650" y="27432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LLM-as-Judge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35CBD0-A7CB-41AD-BB1D-CE400AB0A143}"/>
              </a:ext>
            </a:extLst>
          </p:cNvPr>
          <p:cNvSpPr>
            <a:spLocks noGrp="1"/>
          </p:cNvSpPr>
          <p:nvPr/>
        </p:nvSpPr>
        <p:spPr>
          <a:xfrm>
            <a:off x="8058150" y="2743200"/>
            <a:ext cx="933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0.51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D668C4-5F4A-41A9-9126-82CDB0F8B7E6}"/>
              </a:ext>
            </a:extLst>
          </p:cNvPr>
          <p:cNvSpPr>
            <a:spLocks noGrp="1"/>
          </p:cNvSpPr>
          <p:nvPr/>
        </p:nvSpPr>
        <p:spPr>
          <a:xfrm>
            <a:off x="9182100" y="2743200"/>
            <a:ext cx="2552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FaithJudge 0.596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8D29D7-29AB-4779-8203-2879A2CC9231}"/>
              </a:ext>
            </a:extLst>
          </p:cNvPr>
          <p:cNvSpPr>
            <a:spLocks noGrp="1"/>
          </p:cNvSpPr>
          <p:nvPr/>
        </p:nvSpPr>
        <p:spPr>
          <a:xfrm>
            <a:off x="5867400" y="3219450"/>
            <a:ext cx="5962650" cy="5905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B40306-DCF1-4DEE-994E-2A40E6585F8A}"/>
              </a:ext>
            </a:extLst>
          </p:cNvPr>
          <p:cNvSpPr>
            <a:spLocks noGrp="1"/>
          </p:cNvSpPr>
          <p:nvPr/>
        </p:nvSpPr>
        <p:spPr>
          <a:xfrm>
            <a:off x="5962650" y="33337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Mixed Methods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694429-86F7-40DF-BD67-47F4E03BA2F3}"/>
              </a:ext>
            </a:extLst>
          </p:cNvPr>
          <p:cNvSpPr>
            <a:spLocks noGrp="1"/>
          </p:cNvSpPr>
          <p:nvPr/>
        </p:nvSpPr>
        <p:spPr>
          <a:xfrm>
            <a:off x="8058150" y="3333750"/>
            <a:ext cx="933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0.19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51CBB6-A4A0-4A72-B9B5-2EADC57FF6BE}"/>
              </a:ext>
            </a:extLst>
          </p:cNvPr>
          <p:cNvSpPr>
            <a:spLocks noGrp="1"/>
          </p:cNvSpPr>
          <p:nvPr/>
        </p:nvSpPr>
        <p:spPr>
          <a:xfrm>
            <a:off x="9182100" y="3333750"/>
            <a:ext cx="2552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SIRG 0.361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738757-B2B0-4577-984F-686162EDB620}"/>
              </a:ext>
            </a:extLst>
          </p:cNvPr>
          <p:cNvSpPr>
            <a:spLocks noGrp="1"/>
          </p:cNvSpPr>
          <p:nvPr/>
        </p:nvSpPr>
        <p:spPr>
          <a:xfrm>
            <a:off x="5867400" y="3810000"/>
            <a:ext cx="59626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49310B-FD82-48C6-AD8E-FE717227111A}"/>
              </a:ext>
            </a:extLst>
          </p:cNvPr>
          <p:cNvSpPr>
            <a:spLocks noGrp="1"/>
          </p:cNvSpPr>
          <p:nvPr/>
        </p:nvSpPr>
        <p:spPr>
          <a:xfrm>
            <a:off x="5962650" y="39243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Outlier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58D632-C8B6-4B14-83B0-20EE9890AE7B}"/>
              </a:ext>
            </a:extLst>
          </p:cNvPr>
          <p:cNvSpPr>
            <a:spLocks noGrp="1"/>
          </p:cNvSpPr>
          <p:nvPr/>
        </p:nvSpPr>
        <p:spPr>
          <a:xfrm>
            <a:off x="8058150" y="3924300"/>
            <a:ext cx="933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56EA9F-8022-4FCF-B045-12D81BA7DE9B}"/>
              </a:ext>
            </a:extLst>
          </p:cNvPr>
          <p:cNvSpPr>
            <a:spLocks noGrp="1"/>
          </p:cNvSpPr>
          <p:nvPr/>
        </p:nvSpPr>
        <p:spPr>
          <a:xfrm>
            <a:off x="9182100" y="3924300"/>
            <a:ext cx="2552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RAGChecker 0.243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6685FB-D417-4AEE-A6EC-EAD0AFA5C3B7}"/>
              </a:ext>
            </a:extLst>
          </p:cNvPr>
          <p:cNvSpPr>
            <a:spLocks noGrp="1"/>
          </p:cNvSpPr>
          <p:nvPr/>
        </p:nvSpPr>
        <p:spPr>
          <a:xfrm>
            <a:off x="5867400" y="4724400"/>
            <a:ext cx="5962650" cy="8382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350EA0-3CC4-4E71-AF0C-5B7B12A5386E}"/>
              </a:ext>
            </a:extLst>
          </p:cNvPr>
          <p:cNvSpPr>
            <a:spLocks noGrp="1"/>
          </p:cNvSpPr>
          <p:nvPr/>
        </p:nvSpPr>
        <p:spPr>
          <a:xfrm>
            <a:off x="5867400" y="4724400"/>
            <a:ext cx="596265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895C10-7C79-4CBE-B258-C9AFE080D26B}"/>
              </a:ext>
            </a:extLst>
          </p:cNvPr>
          <p:cNvSpPr>
            <a:spLocks noGrp="1"/>
          </p:cNvSpPr>
          <p:nvPr/>
        </p:nvSpPr>
        <p:spPr>
          <a:xfrm>
            <a:off x="6038850" y="4895850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Human validation subset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1D560F-8694-4FEA-A423-092BAF661037}"/>
              </a:ext>
            </a:extLst>
          </p:cNvPr>
          <p:cNvSpPr>
            <a:spLocks noGrp="1"/>
          </p:cNvSpPr>
          <p:nvPr/>
        </p:nvSpPr>
        <p:spPr>
          <a:xfrm>
            <a:off x="6038850" y="5200650"/>
            <a:ext cx="561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Pearson correlations use binary human annotations for n = 50 RAGBench samples.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661C2E-259B-4EAD-9125-CAAEBBB1A1FA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111252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10EBE6-4B9D-49A9-8D32-A8B4206ACEAC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8A4C35-D4CE-47A1-8593-77EF7FF3EBEA}"/>
              </a:ext>
            </a:extLst>
          </p:cNvPr>
          <p:cNvSpPr>
            <a:spLocks noGrp="1"/>
          </p:cNvSpPr>
          <p:nvPr/>
        </p:nvSpPr>
        <p:spPr>
          <a:xfrm>
            <a:off x="876300" y="60102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B5C230-3CEB-4CE6-A39C-26345692DF39}"/>
              </a:ext>
            </a:extLst>
          </p:cNvPr>
          <p:cNvSpPr>
            <a:spLocks noGrp="1"/>
          </p:cNvSpPr>
          <p:nvPr/>
        </p:nvSpPr>
        <p:spPr>
          <a:xfrm>
            <a:off x="2552700" y="6000750"/>
            <a:ext cx="9105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paper treats this human-alignment result as directional evidence.</a:t>
            </a:r>
          </a:p>
        </p:txBody>
      </p:sp>
    </p:spTree>
    <p:extLst>
      <p:ext uri="{BB962C8B-B14F-4D97-AF65-F5344CB8AC3E}">
        <p14:creationId xmlns:p14="http://schemas.microsoft.com/office/powerpoint/2010/main" val="1582718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8D774F8-ECC2-481B-9DE6-DA72628DB2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7427D9-A680-4AFA-958D-30C8285545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B62950-4F31-4604-A148-998B77B1242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C695FC-451F-4270-A743-A7512C7679E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7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CABBF9-C39D-487E-84D9-3DD2EC3B9FD8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Cross-cluster consensus is usually contested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A1A86-3A33-4DE8-927E-F9BFF9DD967D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D7DFF-6055-4542-AF85-35CC12C9EB72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99C06-0FBF-416D-BD8C-E3E833D6C2A7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Representatives: LRP4RAG, FaithJudge, and QAFactEval.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5AB30C-1A6F-41EA-9F21-4DA07E37FB7D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A verdict requires all three representatives to agree at threshold 0.5.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05133-31CB-4DB6-8D97-516D9F01BD88}"/>
              </a:ext>
            </a:extLst>
          </p:cNvPr>
          <p:cNvSpPr>
            <a:spLocks noGrp="1"/>
          </p:cNvSpPr>
          <p:nvPr/>
        </p:nvSpPr>
        <p:spPr>
          <a:xfrm>
            <a:off x="723900" y="2743200"/>
            <a:ext cx="4953000" cy="1962150"/>
          </a:xfrm>
          <a:prstGeom prst="rect">
            <a:avLst/>
          </a:prstGeom>
          <a:solidFill>
            <a:srgbClr val="FDEAED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D1223-12CF-42D2-B0F7-02754BA38771}"/>
              </a:ext>
            </a:extLst>
          </p:cNvPr>
          <p:cNvSpPr>
            <a:spLocks noGrp="1"/>
          </p:cNvSpPr>
          <p:nvPr/>
        </p:nvSpPr>
        <p:spPr>
          <a:xfrm>
            <a:off x="933450" y="3181350"/>
            <a:ext cx="453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92.5%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C08401-78ED-4093-8370-62D2E645740C}"/>
              </a:ext>
            </a:extLst>
          </p:cNvPr>
          <p:cNvSpPr>
            <a:spLocks noGrp="1"/>
          </p:cNvSpPr>
          <p:nvPr/>
        </p:nvSpPr>
        <p:spPr>
          <a:xfrm>
            <a:off x="933450" y="3771900"/>
            <a:ext cx="4533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Contested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9C9AC9-C9B6-451F-A41A-FD0E221861B2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453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185 of 200 samples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A332C1-FEEB-4414-B685-8974236147F1}"/>
              </a:ext>
            </a:extLst>
          </p:cNvPr>
          <p:cNvSpPr>
            <a:spLocks noGrp="1"/>
          </p:cNvSpPr>
          <p:nvPr/>
        </p:nvSpPr>
        <p:spPr>
          <a:xfrm>
            <a:off x="5848350" y="2743200"/>
            <a:ext cx="2514600" cy="19621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6B087D-AF51-4CAE-B67F-9D49CCF9FAB9}"/>
              </a:ext>
            </a:extLst>
          </p:cNvPr>
          <p:cNvSpPr>
            <a:spLocks noGrp="1"/>
          </p:cNvSpPr>
          <p:nvPr/>
        </p:nvSpPr>
        <p:spPr>
          <a:xfrm>
            <a:off x="6057900" y="3181350"/>
            <a:ext cx="2095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6.0%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79C76F-22FA-499A-A4EC-F2B9D4100AD0}"/>
              </a:ext>
            </a:extLst>
          </p:cNvPr>
          <p:cNvSpPr>
            <a:spLocks noGrp="1"/>
          </p:cNvSpPr>
          <p:nvPr/>
        </p:nvSpPr>
        <p:spPr>
          <a:xfrm>
            <a:off x="6057900" y="37719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Faithful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0E2030-B23E-40A7-88C5-F256BECDC7DC}"/>
              </a:ext>
            </a:extLst>
          </p:cNvPr>
          <p:cNvSpPr>
            <a:spLocks noGrp="1"/>
          </p:cNvSpPr>
          <p:nvPr/>
        </p:nvSpPr>
        <p:spPr>
          <a:xfrm>
            <a:off x="6057900" y="41719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12 samples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A4FF9C-D3E0-4675-AD33-1ABA71CECF0E}"/>
              </a:ext>
            </a:extLst>
          </p:cNvPr>
          <p:cNvSpPr>
            <a:spLocks noGrp="1"/>
          </p:cNvSpPr>
          <p:nvPr/>
        </p:nvSpPr>
        <p:spPr>
          <a:xfrm>
            <a:off x="8534400" y="2743200"/>
            <a:ext cx="2514600" cy="19621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9C6F1C-D0EF-4648-AA38-9B857FAA2EFA}"/>
              </a:ext>
            </a:extLst>
          </p:cNvPr>
          <p:cNvSpPr>
            <a:spLocks noGrp="1"/>
          </p:cNvSpPr>
          <p:nvPr/>
        </p:nvSpPr>
        <p:spPr>
          <a:xfrm>
            <a:off x="8743950" y="3181350"/>
            <a:ext cx="2095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rPr>
              <a:t>1.5%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C41A37-7DF7-42DA-B4BF-4504AAA98621}"/>
              </a:ext>
            </a:extLst>
          </p:cNvPr>
          <p:cNvSpPr>
            <a:spLocks noGrp="1"/>
          </p:cNvSpPr>
          <p:nvPr/>
        </p:nvSpPr>
        <p:spPr>
          <a:xfrm>
            <a:off x="8743950" y="37719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Unfaithful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CA1A57-6E59-4AE4-96E6-57BF9433D2FF}"/>
              </a:ext>
            </a:extLst>
          </p:cNvPr>
          <p:cNvSpPr>
            <a:spLocks noGrp="1"/>
          </p:cNvSpPr>
          <p:nvPr/>
        </p:nvSpPr>
        <p:spPr>
          <a:xfrm>
            <a:off x="8743950" y="41719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3 samples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315324-98A8-4E6D-B281-A3E077CE2D58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3251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14516-3608-4369-9687-C381BB6053AF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6B3976-227F-46BB-9896-6F5B8602C040}"/>
              </a:ext>
            </a:extLst>
          </p:cNvPr>
          <p:cNvSpPr>
            <a:spLocks noGrp="1"/>
          </p:cNvSpPr>
          <p:nvPr/>
        </p:nvSpPr>
        <p:spPr>
          <a:xfrm>
            <a:off x="895350" y="59531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7950EC-7399-4099-BF13-5D20D07D4E2C}"/>
              </a:ext>
            </a:extLst>
          </p:cNvPr>
          <p:cNvSpPr>
            <a:spLocks noGrp="1"/>
          </p:cNvSpPr>
          <p:nvPr/>
        </p:nvSpPr>
        <p:spPr>
          <a:xfrm>
            <a:off x="2571750" y="5943600"/>
            <a:ext cx="830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consensus protocol quantifies how rarely the three clusters converge.</a:t>
            </a:r>
          </a:p>
        </p:txBody>
      </p:sp>
    </p:spTree>
    <p:extLst>
      <p:ext uri="{BB962C8B-B14F-4D97-AF65-F5344CB8AC3E}">
        <p14:creationId xmlns:p14="http://schemas.microsoft.com/office/powerpoint/2010/main" val="455618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11CDEA9-5004-48F7-B289-65BC605F07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F63CB6-B5C4-4863-8AA3-BC70F005C9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E7995-0A45-4CB2-9812-EEFAC54F263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9D29D-2B7F-428F-94B0-CDCB568264D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8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D3DFBD-0864-48FB-B391-4792C19A24E0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One framework, seen against the rest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B3889-1945-489A-9A9E-36FDE289A143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CC8A26-40D8-496A-BEF0-A5BE52E2BA38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3A73B-CB8D-4CB3-BE02-4F20B91FC69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543300" cy="394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3307F3-F875-4618-8B47-11E772D2EE4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39433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F25236-DAA9-4984-913B-82DF9E2AE73D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9337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FaithJudge has the highest human correlation in Table 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It aligns most strongly with LLM-judge peers.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Agreement weakens for mixed methods and outlier members.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42760" y="1185575"/>
            <a:ext cx="7163440" cy="477014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5BC081-570F-48CB-9C63-3FD5CB7E1050}"/>
              </a:ext>
            </a:extLst>
          </p:cNvPr>
          <p:cNvSpPr>
            <a:spLocks noGrp="1"/>
          </p:cNvSpPr>
          <p:nvPr/>
        </p:nvSpPr>
        <p:spPr>
          <a:xfrm>
            <a:off x="4809805" y="6130633"/>
            <a:ext cx="622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FaithJudge</a:t>
            </a:r>
            <a:r>
              <a:rPr sz="825" b="1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against twelve frameworks, colored by domain.</a:t>
            </a:r>
          </a:p>
        </p:txBody>
      </p:sp>
    </p:spTree>
    <p:extLst>
      <p:ext uri="{BB962C8B-B14F-4D97-AF65-F5344CB8AC3E}">
        <p14:creationId xmlns:p14="http://schemas.microsoft.com/office/powerpoint/2010/main" val="119118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529657D-A8D1-4646-845A-DA6696FA05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BEDD0E-5C6E-4B38-980F-7AFA2DC509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BEBE0D-492F-49F8-A2E5-4FEB6F04683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7E4077-74DF-46B1-9C5D-F7069BAA1EA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FFE739-6AF4-4C86-8295-D64FFC3801B5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One faithfulness metric is insufficient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F85F-4698-4B70-B42E-C34D175CA8D4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713394-DC0D-48D8-8174-86711905B972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DC9C5F-1EA4-4F21-8459-5B5F1150C4A6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9867900" cy="10096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0D5F4C-98E4-416A-8E80-5F82A839447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9867900" cy="571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8B6CCF-0BA2-4B22-B488-4E9CF114E84F}"/>
              </a:ext>
            </a:extLst>
          </p:cNvPr>
          <p:cNvSpPr>
            <a:spLocks noGrp="1"/>
          </p:cNvSpPr>
          <p:nvPr/>
        </p:nvSpPr>
        <p:spPr>
          <a:xfrm>
            <a:off x="1047750" y="1962150"/>
            <a:ext cx="952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Single-metric reporting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D65D8E-AA59-4EFE-88ED-8DFCDFEF88C9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On identical samples, mean scores range from 0.923 for G-Eval to 0.063 for RAGChecker.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D04B4A-7027-46C7-9778-A3DA9ABEE220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9867900" cy="8953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F97204-A669-4A48-9BE2-F6DECFB8B108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9867900" cy="571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38F028-4A28-4026-9166-5C1FDF4EC4DB}"/>
              </a:ext>
            </a:extLst>
          </p:cNvPr>
          <p:cNvSpPr>
            <a:spLocks noGrp="1"/>
          </p:cNvSpPr>
          <p:nvPr/>
        </p:nvSpPr>
        <p:spPr>
          <a:xfrm>
            <a:off x="1047750" y="3276600"/>
            <a:ext cx="952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Cross-study comparison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B2305F-78B9-4802-B48B-010B977C91E2}"/>
              </a:ext>
            </a:extLst>
          </p:cNvPr>
          <p:cNvSpPr>
            <a:spLocks noGrp="1"/>
          </p:cNvSpPr>
          <p:nvPr/>
        </p:nvSpPr>
        <p:spPr>
          <a:xfrm>
            <a:off x="1047750" y="358140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Observed score differences may reflect framework choice rather than system quality.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7B9914-3CF6-4248-BB68-FE2AAB97579C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9867900" cy="8953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BE4F9C-1B26-4018-8E99-3FC7A9F178C1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986790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EA5076-9C2E-457C-A3EF-63CDE398DF8A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952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Evaluation-driven optimization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94A32E-D011-49D5-8077-B724AC9F4A5D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Low between-cluster agreement means improvement on one metric may not carry to another.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724F3A-A67F-41E6-99AB-A1F891915EE3}"/>
              </a:ext>
            </a:extLst>
          </p:cNvPr>
          <p:cNvSpPr>
            <a:spLocks noGrp="1"/>
          </p:cNvSpPr>
          <p:nvPr/>
        </p:nvSpPr>
        <p:spPr>
          <a:xfrm>
            <a:off x="876300" y="5753100"/>
            <a:ext cx="98679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9B6EB3-8408-4F14-9BB7-B7A1D9E0A284}"/>
              </a:ext>
            </a:extLst>
          </p:cNvPr>
          <p:cNvSpPr>
            <a:spLocks noGrp="1"/>
          </p:cNvSpPr>
          <p:nvPr/>
        </p:nvSpPr>
        <p:spPr>
          <a:xfrm>
            <a:off x="876300" y="57531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D6A5-AB76-457B-8D6E-3AB6FD8E5AF2}"/>
              </a:ext>
            </a:extLst>
          </p:cNvPr>
          <p:cNvSpPr>
            <a:spLocks noGrp="1"/>
          </p:cNvSpPr>
          <p:nvPr/>
        </p:nvSpPr>
        <p:spPr>
          <a:xfrm>
            <a:off x="1047750" y="58769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994853-271C-4592-B549-8BC4178C2155}"/>
              </a:ext>
            </a:extLst>
          </p:cNvPr>
          <p:cNvSpPr>
            <a:spLocks noGrp="1"/>
          </p:cNvSpPr>
          <p:nvPr/>
        </p:nvSpPr>
        <p:spPr>
          <a:xfrm>
            <a:off x="2724150" y="5867400"/>
            <a:ext cx="7848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Framework identity belongs next to every faithfulness claim.</a:t>
            </a:r>
          </a:p>
        </p:txBody>
      </p:sp>
    </p:spTree>
    <p:extLst>
      <p:ext uri="{BB962C8B-B14F-4D97-AF65-F5344CB8AC3E}">
        <p14:creationId xmlns:p14="http://schemas.microsoft.com/office/powerpoint/2010/main" val="1175472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20A113A-6FDC-4D62-8D5B-F0ACA8991A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ABDA08-A46B-40AE-A524-DF6E69AA3C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9649D8-25C8-42DC-B74D-00A1A6F559E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FF963-9846-4FCA-920F-2A0D625A3A6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80452D-F7F5-4DE8-8A46-B87C11029A21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Choose the evaluator by the question it can answer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7564D9-D629-4C61-81CD-B81B763A0220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DAF11A-4CC1-4899-995A-686A3B756D07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DA2D96-8F14-4FB1-A7BF-444079837ACC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3695700" cy="3238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5E263B-55D7-4727-8F59-2978CA75C6D0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76200" cy="32385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D65E3B-1488-427D-AD93-E350361C11AD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Why disagreement appears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0BFBC-2F94-47F0-ABAF-94B4FDECA43A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295275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The clusters treat different evidence as faithfulness: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holistic judgment,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claim-level entailment,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semantic overlap,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or context reliance signals.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F8CA0E-7E3D-4CD6-8498-580ED1036A1C}"/>
              </a:ext>
            </a:extLst>
          </p:cNvPr>
          <p:cNvSpPr>
            <a:spLocks noGrp="1"/>
          </p:cNvSpPr>
          <p:nvPr/>
        </p:nvSpPr>
        <p:spPr>
          <a:xfrm>
            <a:off x="5143500" y="1866900"/>
            <a:ext cx="5905500" cy="3238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6A8FEE-8C40-438A-B023-4E299B9A7DAB}"/>
              </a:ext>
            </a:extLst>
          </p:cNvPr>
          <p:cNvSpPr>
            <a:spLocks noGrp="1"/>
          </p:cNvSpPr>
          <p:nvPr/>
        </p:nvSpPr>
        <p:spPr>
          <a:xfrm>
            <a:off x="5143500" y="1866900"/>
            <a:ext cx="76200" cy="323850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C565E2-8165-4378-87C6-07FFC90DC8EF}"/>
              </a:ext>
            </a:extLst>
          </p:cNvPr>
          <p:cNvSpPr>
            <a:spLocks noGrp="1"/>
          </p:cNvSpPr>
          <p:nvPr/>
        </p:nvSpPr>
        <p:spPr>
          <a:xfrm>
            <a:off x="5410200" y="219075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Paper guidelines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506846-0775-42D2-A983-BF0AB38297EA}"/>
              </a:ext>
            </a:extLst>
          </p:cNvPr>
          <p:cNvSpPr>
            <a:spLocks noGrp="1"/>
          </p:cNvSpPr>
          <p:nvPr/>
        </p:nvSpPr>
        <p:spPr>
          <a:xfrm>
            <a:off x="5410200" y="2724150"/>
            <a:ext cx="51054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General scoring: G-Eval or FaithJudge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Claim-level diagnosis: RAGChecker or HALT-RAG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Process-level analysis: ReDeEP or LRP4RAG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Multi-perspective reporting: one method from each cluster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F3D37-0F8E-4E23-9911-C13FD70F9FCD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103060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1CF492-EF94-491C-9427-DB5CD7826D92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A82035-8FA1-48E9-BFC8-71A4EC3965EA}"/>
              </a:ext>
            </a:extLst>
          </p:cNvPr>
          <p:cNvSpPr>
            <a:spLocks noGrp="1"/>
          </p:cNvSpPr>
          <p:nvPr/>
        </p:nvSpPr>
        <p:spPr>
          <a:xfrm>
            <a:off x="914400" y="58959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936A27-5677-4BC3-8CA5-7D8E69B12A2F}"/>
              </a:ext>
            </a:extLst>
          </p:cNvPr>
          <p:cNvSpPr>
            <a:spLocks noGrp="1"/>
          </p:cNvSpPr>
          <p:nvPr/>
        </p:nvSpPr>
        <p:spPr>
          <a:xfrm>
            <a:off x="2590800" y="5886450"/>
            <a:ext cx="828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Cross-cluster agreement is stronger than agreement inside one family.</a:t>
            </a:r>
          </a:p>
        </p:txBody>
      </p:sp>
    </p:spTree>
    <p:extLst>
      <p:ext uri="{BB962C8B-B14F-4D97-AF65-F5344CB8AC3E}">
        <p14:creationId xmlns:p14="http://schemas.microsoft.com/office/powerpoint/2010/main" val="885765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2620DB-6A8C-45B8-BA73-D438BB088C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9E01FE-7EA7-4529-9E16-EF55BE0563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1B91C-9C1F-4F11-9453-CBA0B5B68D1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522A9-FCB2-445A-8EEC-3F32C70A9DC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9D2C89-EE7A-473B-9AE4-6AE541AC89A8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Limitations point directly to the next reliability study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A466A-B530-4951-A2BB-6F7ACD867CBA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D5B030-7CB2-4621-9C96-903FA62D0459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A1EC0-42E6-4E7D-9467-AF0FA7EDE568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4667250" cy="32956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C5EBA7-32E1-43C3-B2EB-6188607F1A9D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76200" cy="32956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6D1442-A6E1-4EB8-BA9F-0B59C8084BA9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82D4E-ADFF-487E-8939-022F69D1E101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40195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- 200 samples may miss rare failure modes.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RAGBench draws from specific benchmarks.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LLM-judge results depend on the backbone.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The human subset has n = 50.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D46B7F-F0E6-4ADB-9E89-D6DE8AE1F87E}"/>
              </a:ext>
            </a:extLst>
          </p:cNvPr>
          <p:cNvSpPr>
            <a:spLocks noGrp="1"/>
          </p:cNvSpPr>
          <p:nvPr/>
        </p:nvSpPr>
        <p:spPr>
          <a:xfrm>
            <a:off x="5981700" y="1790700"/>
            <a:ext cx="5048250" cy="32956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3B8122-1B03-4557-B0DF-F920CC8DE3CE}"/>
              </a:ext>
            </a:extLst>
          </p:cNvPr>
          <p:cNvSpPr>
            <a:spLocks noGrp="1"/>
          </p:cNvSpPr>
          <p:nvPr/>
        </p:nvSpPr>
        <p:spPr>
          <a:xfrm>
            <a:off x="5981700" y="1790700"/>
            <a:ext cx="76200" cy="32956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902C83-63C5-4B6A-8056-3ACAAF045953}"/>
              </a:ext>
            </a:extLst>
          </p:cNvPr>
          <p:cNvSpPr>
            <a:spLocks noGrp="1"/>
          </p:cNvSpPr>
          <p:nvPr/>
        </p:nvSpPr>
        <p:spPr>
          <a:xfrm>
            <a:off x="6229350" y="2133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Next 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64EA9B-F5B5-4AAD-B740-0F9C5489254F}"/>
              </a:ext>
            </a:extLst>
          </p:cNvPr>
          <p:cNvSpPr>
            <a:spLocks noGrp="1"/>
          </p:cNvSpPr>
          <p:nvPr/>
        </p:nvSpPr>
        <p:spPr>
          <a:xfrm>
            <a:off x="6229350" y="2667000"/>
            <a:ext cx="43434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Separate the sub-constructs bundled under faithfulness.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Adopt meta-analytic reporting for new frameworks.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Build domain-adapted calibration procedures.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437D51-0DA8-40C9-B94A-D94415FFE2F2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306050" cy="6286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16595A-8031-4715-AD03-EFFBF80F49F2}"/>
              </a:ext>
            </a:extLst>
          </p:cNvPr>
          <p:cNvSpPr>
            <a:spLocks noGrp="1"/>
          </p:cNvSpPr>
          <p:nvPr/>
        </p:nvSpPr>
        <p:spPr>
          <a:xfrm>
            <a:off x="971550" y="575310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paper concludes that faithfulness is not a single construct as currently measured.</a:t>
            </a:r>
          </a:p>
        </p:txBody>
      </p:sp>
    </p:spTree>
    <p:extLst>
      <p:ext uri="{BB962C8B-B14F-4D97-AF65-F5344CB8AC3E}">
        <p14:creationId xmlns:p14="http://schemas.microsoft.com/office/powerpoint/2010/main" val="800213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197C451-5A38-46BE-B186-DA2F67F1BC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4F3E1-CD2F-4A6D-8FA5-C4492A01A7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3DBA9-F2AB-44BA-9622-BA987600A30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B7122-238F-41FE-9033-3E5C8C0FE0A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8DE97-D7B8-471A-A2CA-6A41B3911A24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Selected 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18579-2AB0-44E2-A5DE-6286D3D0120C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B533CB-3125-41BA-BDCF-72675C06F785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8B28C2-0AB7-495B-A173-3AE9D949BAC1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4762500" cy="3981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C392AF-CC30-484C-9CB5-F7156C7A6E5C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76200" cy="39814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6D90E6-5A88-45D4-938B-881B93712670}"/>
              </a:ext>
            </a:extLst>
          </p:cNvPr>
          <p:cNvSpPr>
            <a:spLocks noGrp="1"/>
          </p:cNvSpPr>
          <p:nvPr/>
        </p:nvSpPr>
        <p:spPr>
          <a:xfrm>
            <a:off x="1028700" y="2152650"/>
            <a:ext cx="390525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Friel et al. RAGBench. 2024.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Es et al. RAGAS. EACL 2024.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Liu et al. G-Eval. EMNLP 2023.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Tamber et al. FaithJudge. EMNLP 2025.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Ru et al. RAGChecker. NeurIPS 2024.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Saad-Falcon et al. ARES. NAACL 2024.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13E77C-E834-45B8-809B-C8400861A704}"/>
              </a:ext>
            </a:extLst>
          </p:cNvPr>
          <p:cNvSpPr>
            <a:spLocks noGrp="1"/>
          </p:cNvSpPr>
          <p:nvPr/>
        </p:nvSpPr>
        <p:spPr>
          <a:xfrm>
            <a:off x="6115050" y="1752600"/>
            <a:ext cx="4762500" cy="3981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C04D12-9067-430D-ACF4-B3C6BA88EC1B}"/>
              </a:ext>
            </a:extLst>
          </p:cNvPr>
          <p:cNvSpPr>
            <a:spLocks noGrp="1"/>
          </p:cNvSpPr>
          <p:nvPr/>
        </p:nvSpPr>
        <p:spPr>
          <a:xfrm>
            <a:off x="6115050" y="1752600"/>
            <a:ext cx="76200" cy="39814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ACEF0E-17D9-4E36-9B4F-E78BFDFA4DA3}"/>
              </a:ext>
            </a:extLst>
          </p:cNvPr>
          <p:cNvSpPr>
            <a:spLocks noGrp="1"/>
          </p:cNvSpPr>
          <p:nvPr/>
        </p:nvSpPr>
        <p:spPr>
          <a:xfrm>
            <a:off x="6419850" y="2152650"/>
            <a:ext cx="390525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Zhang et al. BERTScore. ICLR 2020.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Sun et al. ReDeEP. ICLR 2025.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Cochran. Combination of estimates. 1954.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Higgins et al. Measuring inconsistency. BMJ 2003.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Tibshirani et al. Gap statistic. 2001.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Full list in the paper and repository.</a:t>
            </a:r>
          </a:p>
        </p:txBody>
      </p:sp>
    </p:spTree>
    <p:extLst>
      <p:ext uri="{BB962C8B-B14F-4D97-AF65-F5344CB8AC3E}">
        <p14:creationId xmlns:p14="http://schemas.microsoft.com/office/powerpoint/2010/main" val="1113139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F08DF2C-0B09-489B-8081-6DE9B5FEC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C411F6-FA45-4B3A-ADAD-39DE160D333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809750" cy="47625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1C860C-3A00-4D77-828F-31E8A9B47A05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590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EA9F9-0703-4FAE-9C9A-D734B11D5856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Asif Ahmed Neloy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80B9DA-C45B-49F8-B5A4-E7D282CBD6C2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3053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6E0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EF"/>
                </a:solidFill>
                <a:latin typeface="Aptos"/>
                <a:ea typeface="Aptos"/>
                <a:cs typeface="Aptos"/>
              </a:rPr>
              <a:t>Senior AI Engineer, Delta Controls</a:t>
            </a:r>
          </a:p>
          <a:p>
            <a:pPr algn="l">
              <a:defRPr sz="1350" b="0">
                <a:solidFill>
                  <a:srgbClr val="D6E0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EF"/>
                </a:solidFill>
                <a:latin typeface="Aptos"/>
                <a:ea typeface="Aptos"/>
                <a:cs typeface="Aptos"/>
              </a:rPr>
              <a:t>Adjunct Professor, University of British Columbia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BA8AD7-3311-4300-8155-043A61371584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9EC5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EC5FF"/>
                </a:solidFill>
                <a:latin typeface="Aptos"/>
                <a:ea typeface="Aptos"/>
                <a:cs typeface="Aptos"/>
              </a:rPr>
              <a:t>asif.neloy@ubc.ca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47907-6AE3-48A0-8C70-D7703300534E}"/>
              </a:ext>
            </a:extLst>
          </p:cNvPr>
          <p:cNvSpPr>
            <a:spLocks noGrp="1"/>
          </p:cNvSpPr>
          <p:nvPr/>
        </p:nvSpPr>
        <p:spPr>
          <a:xfrm>
            <a:off x="6362700" y="2609850"/>
            <a:ext cx="3448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MD Nazmul Islam</a:t>
            </a:r>
          </a:p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Instructor, Keyano College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7B12E-49EF-421B-AD7E-931628CA8A82}"/>
              </a:ext>
            </a:extLst>
          </p:cNvPr>
          <p:cNvSpPr>
            <a:spLocks noGrp="1"/>
          </p:cNvSpPr>
          <p:nvPr/>
        </p:nvSpPr>
        <p:spPr>
          <a:xfrm>
            <a:off x="6362700" y="3581400"/>
            <a:ext cx="371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6E0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E0EF"/>
                </a:solidFill>
                <a:latin typeface="Aptos"/>
                <a:ea typeface="Aptos"/>
                <a:cs typeface="Aptos"/>
              </a:rPr>
              <a:t>Interactive deck and repository</a:t>
            </a:r>
          </a:p>
          <a:p>
            <a:pPr algn="l">
              <a:defRPr sz="1500" b="1">
                <a:solidFill>
                  <a:srgbClr val="D6E0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E0EF"/>
                </a:solidFill>
                <a:latin typeface="Aptos"/>
                <a:ea typeface="Aptos"/>
                <a:cs typeface="Aptos"/>
              </a:rPr>
              <a:t>available on GitHub.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ABFE95-BE96-429A-A0E3-75B5FDF51960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28575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EBE56A-849E-4834-8ED8-657B6FF88830}"/>
              </a:ext>
            </a:extLst>
          </p:cNvPr>
          <p:cNvSpPr>
            <a:spLocks noGrp="1"/>
          </p:cNvSpPr>
          <p:nvPr/>
        </p:nvSpPr>
        <p:spPr>
          <a:xfrm>
            <a:off x="6362700" y="4914900"/>
            <a:ext cx="20955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5140375"/>
            <a:ext cx="2514600" cy="52060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62700" y="5141797"/>
            <a:ext cx="1676400" cy="5177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BFD9BD0-E3BC-4219-B1DA-EFB41C2DA9AA}"/>
              </a:ext>
            </a:extLst>
          </p:cNvPr>
          <p:cNvSpPr>
            <a:spLocks noGrp="1"/>
          </p:cNvSpPr>
          <p:nvPr/>
        </p:nvSpPr>
        <p:spPr>
          <a:xfrm>
            <a:off x="10934700" y="64770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369807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1540</Words>
  <Application>Microsoft Office PowerPoint</Application>
  <DocSecurity>0</DocSecurity>
  <PresentationFormat>Widescreen</PresentationFormat>
  <Paragraphs>310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Asif Ahmed Neloy</cp:lastModifiedBy>
  <cp:revision>3</cp:revision>
  <dcterms:created xsi:type="dcterms:W3CDTF">2026-05-22T07:01:20Z</dcterms:created>
  <dcterms:modified xsi:type="dcterms:W3CDTF">2026-05-22T07:04:29Z</dcterms:modified>
</cp:coreProperties>
</file>